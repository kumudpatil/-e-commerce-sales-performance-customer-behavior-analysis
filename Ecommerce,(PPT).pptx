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60" r:id="rId3"/>
    <p:sldId id="279" r:id="rId4"/>
    <p:sldId id="299" r:id="rId5"/>
    <p:sldId id="300" r:id="rId6"/>
    <p:sldId id="301" r:id="rId7"/>
    <p:sldId id="302" r:id="rId8"/>
    <p:sldId id="283" r:id="rId9"/>
    <p:sldId id="296" r:id="rId10"/>
    <p:sldId id="297" r:id="rId11"/>
    <p:sldId id="298" r:id="rId12"/>
    <p:sldId id="292" r:id="rId13"/>
    <p:sldId id="291" r:id="rId14"/>
    <p:sldId id="290" r:id="rId15"/>
    <p:sldId id="294" r:id="rId16"/>
    <p:sldId id="295" r:id="rId17"/>
    <p:sldId id="303" r:id="rId18"/>
  </p:sldIdLst>
  <p:sldSz cx="12192000" cy="6856413"/>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6E7"/>
    <a:srgbClr val="20734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816" y="6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4445CBC7-247E-4F47-8551-2FAA3B040AB4}" type="datetimeFigureOut">
              <a:rPr lang="en-IN" smtClean="0"/>
              <a:t>08-09-2026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5517648F-2340-4078-8A0D-AE083982C765}" type="slidenum">
              <a:rPr lang="en-IN" smtClean="0"/>
              <a:t>‹#›</a:t>
            </a:fld>
            <a:endParaRPr lang="en-IN"/>
          </a:p>
        </p:txBody>
      </p:sp>
    </p:spTree>
    <p:extLst>
      <p:ext uri="{BB962C8B-B14F-4D97-AF65-F5344CB8AC3E}">
        <p14:creationId xmlns:p14="http://schemas.microsoft.com/office/powerpoint/2010/main" val="7961195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17648F-2340-4078-8A0D-AE083982C765}" type="slidenum">
              <a:rPr lang="en-IN" smtClean="0"/>
              <a:t>3</a:t>
            </a:fld>
            <a:endParaRPr lang="en-IN"/>
          </a:p>
        </p:txBody>
      </p:sp>
    </p:spTree>
    <p:extLst>
      <p:ext uri="{BB962C8B-B14F-4D97-AF65-F5344CB8AC3E}">
        <p14:creationId xmlns:p14="http://schemas.microsoft.com/office/powerpoint/2010/main" val="42927377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17648F-2340-4078-8A0D-AE083982C765}" type="slidenum">
              <a:rPr lang="en-IN" smtClean="0"/>
              <a:t>13</a:t>
            </a:fld>
            <a:endParaRPr lang="en-IN"/>
          </a:p>
        </p:txBody>
      </p:sp>
    </p:spTree>
    <p:extLst>
      <p:ext uri="{BB962C8B-B14F-4D97-AF65-F5344CB8AC3E}">
        <p14:creationId xmlns:p14="http://schemas.microsoft.com/office/powerpoint/2010/main" val="2121441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700" b="1" i="0">
                <a:solidFill>
                  <a:srgbClr val="207345"/>
                </a:solidFill>
                <a:latin typeface="Segoe UI"/>
                <a:cs typeface="Segoe U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500" b="1" i="0">
                <a:solidFill>
                  <a:schemeClr val="tx1"/>
                </a:solidFill>
                <a:latin typeface="Segoe UI Semibold"/>
                <a:cs typeface="Segoe UI Semibold"/>
              </a:defRPr>
            </a:lvl1pPr>
          </a:lstStyle>
          <a:p>
            <a:endParaRPr/>
          </a:p>
        </p:txBody>
      </p:sp>
      <p:sp>
        <p:nvSpPr>
          <p:cNvPr id="4" name="Holder 4"/>
          <p:cNvSpPr>
            <a:spLocks noGrp="1"/>
          </p:cNvSpPr>
          <p:nvPr>
            <p:ph type="ftr" sz="quarter" idx="5"/>
          </p:nvPr>
        </p:nvSpPr>
        <p:spPr/>
        <p:txBody>
          <a:bodyPr lIns="0" tIns="0" rIns="0" bIns="0"/>
          <a:lstStyle>
            <a:lvl1pPr>
              <a:defRPr sz="900" b="0" i="0">
                <a:solidFill>
                  <a:schemeClr val="bg1"/>
                </a:solidFill>
                <a:latin typeface="Segoe UI"/>
                <a:cs typeface="Segoe UI"/>
              </a:defRPr>
            </a:lvl1pPr>
          </a:lstStyle>
          <a:p>
            <a:pPr marL="12700">
              <a:lnSpc>
                <a:spcPct val="100000"/>
              </a:lnSpc>
              <a:spcBef>
                <a:spcPts val="170"/>
              </a:spcBef>
            </a:pPr>
            <a:r>
              <a:rPr dirty="0"/>
              <a:t>Made</a:t>
            </a:r>
            <a:r>
              <a:rPr spc="-15" dirty="0"/>
              <a:t> </a:t>
            </a:r>
            <a:r>
              <a:rPr dirty="0"/>
              <a:t>with</a:t>
            </a:r>
            <a:r>
              <a:rPr spc="-10" dirty="0"/>
              <a:t> Genspark</a:t>
            </a:r>
          </a:p>
        </p:txBody>
      </p:sp>
      <p:sp>
        <p:nvSpPr>
          <p:cNvPr id="5" name="Holder 5"/>
          <p:cNvSpPr>
            <a:spLocks noGrp="1"/>
          </p:cNvSpPr>
          <p:nvPr>
            <p:ph type="dt" sz="half" idx="6"/>
          </p:nvPr>
        </p:nvSpPr>
        <p:spPr/>
        <p:txBody>
          <a:bodyPr lIns="0" tIns="0" rIns="0" bIns="0"/>
          <a:lstStyle>
            <a:lvl1pPr>
              <a:defRPr sz="1050" b="0" i="0">
                <a:solidFill>
                  <a:srgbClr val="6A7280"/>
                </a:solidFill>
                <a:latin typeface="Segoe UI"/>
                <a:cs typeface="Segoe UI"/>
              </a:defRPr>
            </a:lvl1pPr>
          </a:lstStyle>
          <a:p>
            <a:pPr marL="12700">
              <a:lnSpc>
                <a:spcPct val="100000"/>
              </a:lnSpc>
              <a:spcBef>
                <a:spcPts val="180"/>
              </a:spcBef>
            </a:pPr>
            <a:r>
              <a:rPr dirty="0"/>
              <a:t>Power</a:t>
            </a:r>
            <a:r>
              <a:rPr spc="-15" dirty="0"/>
              <a:t> </a:t>
            </a:r>
            <a:r>
              <a:rPr dirty="0"/>
              <a:t>BI</a:t>
            </a:r>
            <a:r>
              <a:rPr spc="-15" dirty="0"/>
              <a:t> </a:t>
            </a:r>
            <a:r>
              <a:rPr dirty="0"/>
              <a:t>Aggregate</a:t>
            </a:r>
            <a:r>
              <a:rPr spc="-10" dirty="0"/>
              <a:t> Functions</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1" i="0">
                <a:solidFill>
                  <a:srgbClr val="207345"/>
                </a:solidFill>
                <a:latin typeface="Segoe UI"/>
                <a:cs typeface="Segoe UI"/>
              </a:defRPr>
            </a:lvl1pPr>
          </a:lstStyle>
          <a:p>
            <a:endParaRPr/>
          </a:p>
        </p:txBody>
      </p:sp>
      <p:sp>
        <p:nvSpPr>
          <p:cNvPr id="3" name="Holder 3"/>
          <p:cNvSpPr>
            <a:spLocks noGrp="1"/>
          </p:cNvSpPr>
          <p:nvPr>
            <p:ph type="body" idx="1"/>
          </p:nvPr>
        </p:nvSpPr>
        <p:spPr/>
        <p:txBody>
          <a:bodyPr lIns="0" tIns="0" rIns="0" bIns="0"/>
          <a:lstStyle>
            <a:lvl1pPr>
              <a:defRPr sz="1500" b="1" i="0">
                <a:solidFill>
                  <a:schemeClr val="tx1"/>
                </a:solidFill>
                <a:latin typeface="Segoe UI Semibold"/>
                <a:cs typeface="Segoe UI Semibold"/>
              </a:defRPr>
            </a:lvl1pPr>
          </a:lstStyle>
          <a:p>
            <a:endParaRPr/>
          </a:p>
        </p:txBody>
      </p:sp>
      <p:sp>
        <p:nvSpPr>
          <p:cNvPr id="4" name="Holder 4"/>
          <p:cNvSpPr>
            <a:spLocks noGrp="1"/>
          </p:cNvSpPr>
          <p:nvPr>
            <p:ph type="ftr" sz="quarter" idx="5"/>
          </p:nvPr>
        </p:nvSpPr>
        <p:spPr/>
        <p:txBody>
          <a:bodyPr lIns="0" tIns="0" rIns="0" bIns="0"/>
          <a:lstStyle>
            <a:lvl1pPr>
              <a:defRPr sz="900" b="0" i="0">
                <a:solidFill>
                  <a:schemeClr val="bg1"/>
                </a:solidFill>
                <a:latin typeface="Segoe UI"/>
                <a:cs typeface="Segoe UI"/>
              </a:defRPr>
            </a:lvl1pPr>
          </a:lstStyle>
          <a:p>
            <a:pPr marL="12700">
              <a:lnSpc>
                <a:spcPct val="100000"/>
              </a:lnSpc>
              <a:spcBef>
                <a:spcPts val="170"/>
              </a:spcBef>
            </a:pPr>
            <a:r>
              <a:rPr dirty="0"/>
              <a:t>Made</a:t>
            </a:r>
            <a:r>
              <a:rPr spc="-15" dirty="0"/>
              <a:t> </a:t>
            </a:r>
            <a:r>
              <a:rPr dirty="0"/>
              <a:t>with</a:t>
            </a:r>
            <a:r>
              <a:rPr spc="-10" dirty="0"/>
              <a:t> Genspark</a:t>
            </a:r>
          </a:p>
        </p:txBody>
      </p:sp>
      <p:sp>
        <p:nvSpPr>
          <p:cNvPr id="5" name="Holder 5"/>
          <p:cNvSpPr>
            <a:spLocks noGrp="1"/>
          </p:cNvSpPr>
          <p:nvPr>
            <p:ph type="dt" sz="half" idx="6"/>
          </p:nvPr>
        </p:nvSpPr>
        <p:spPr/>
        <p:txBody>
          <a:bodyPr lIns="0" tIns="0" rIns="0" bIns="0"/>
          <a:lstStyle>
            <a:lvl1pPr>
              <a:defRPr sz="1050" b="0" i="0">
                <a:solidFill>
                  <a:srgbClr val="6A7280"/>
                </a:solidFill>
                <a:latin typeface="Segoe UI"/>
                <a:cs typeface="Segoe UI"/>
              </a:defRPr>
            </a:lvl1pPr>
          </a:lstStyle>
          <a:p>
            <a:pPr marL="12700">
              <a:lnSpc>
                <a:spcPct val="100000"/>
              </a:lnSpc>
              <a:spcBef>
                <a:spcPts val="180"/>
              </a:spcBef>
            </a:pPr>
            <a:r>
              <a:rPr dirty="0"/>
              <a:t>Power</a:t>
            </a:r>
            <a:r>
              <a:rPr spc="-15" dirty="0"/>
              <a:t> </a:t>
            </a:r>
            <a:r>
              <a:rPr dirty="0"/>
              <a:t>BI</a:t>
            </a:r>
            <a:r>
              <a:rPr spc="-15" dirty="0"/>
              <a:t> </a:t>
            </a:r>
            <a:r>
              <a:rPr dirty="0"/>
              <a:t>Aggregate</a:t>
            </a:r>
            <a:r>
              <a:rPr spc="-10" dirty="0"/>
              <a:t> Functions</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1" i="0">
                <a:solidFill>
                  <a:srgbClr val="207345"/>
                </a:solidFill>
                <a:latin typeface="Segoe UI"/>
                <a:cs typeface="Segoe U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chemeClr val="bg1"/>
                </a:solidFill>
                <a:latin typeface="Segoe UI"/>
                <a:cs typeface="Segoe UI"/>
              </a:defRPr>
            </a:lvl1pPr>
          </a:lstStyle>
          <a:p>
            <a:pPr marL="12700">
              <a:lnSpc>
                <a:spcPct val="100000"/>
              </a:lnSpc>
              <a:spcBef>
                <a:spcPts val="170"/>
              </a:spcBef>
            </a:pPr>
            <a:r>
              <a:rPr dirty="0"/>
              <a:t>Made</a:t>
            </a:r>
            <a:r>
              <a:rPr spc="-15" dirty="0"/>
              <a:t> </a:t>
            </a:r>
            <a:r>
              <a:rPr dirty="0"/>
              <a:t>with</a:t>
            </a:r>
            <a:r>
              <a:rPr spc="-10" dirty="0"/>
              <a:t> Genspark</a:t>
            </a:r>
          </a:p>
        </p:txBody>
      </p:sp>
      <p:sp>
        <p:nvSpPr>
          <p:cNvPr id="6" name="Holder 6"/>
          <p:cNvSpPr>
            <a:spLocks noGrp="1"/>
          </p:cNvSpPr>
          <p:nvPr>
            <p:ph type="dt" sz="half" idx="6"/>
          </p:nvPr>
        </p:nvSpPr>
        <p:spPr/>
        <p:txBody>
          <a:bodyPr lIns="0" tIns="0" rIns="0" bIns="0"/>
          <a:lstStyle>
            <a:lvl1pPr>
              <a:defRPr sz="1050" b="0" i="0">
                <a:solidFill>
                  <a:srgbClr val="6A7280"/>
                </a:solidFill>
                <a:latin typeface="Segoe UI"/>
                <a:cs typeface="Segoe UI"/>
              </a:defRPr>
            </a:lvl1pPr>
          </a:lstStyle>
          <a:p>
            <a:pPr marL="12700">
              <a:lnSpc>
                <a:spcPct val="100000"/>
              </a:lnSpc>
              <a:spcBef>
                <a:spcPts val="180"/>
              </a:spcBef>
            </a:pPr>
            <a:r>
              <a:rPr dirty="0"/>
              <a:t>Power</a:t>
            </a:r>
            <a:r>
              <a:rPr spc="-15" dirty="0"/>
              <a:t> </a:t>
            </a:r>
            <a:r>
              <a:rPr dirty="0"/>
              <a:t>BI</a:t>
            </a:r>
            <a:r>
              <a:rPr spc="-15" dirty="0"/>
              <a:t> </a:t>
            </a:r>
            <a:r>
              <a:rPr dirty="0"/>
              <a:t>Aggregate</a:t>
            </a:r>
            <a:r>
              <a:rPr spc="-10" dirty="0"/>
              <a:t> Functions</a:t>
            </a: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1" i="0">
                <a:solidFill>
                  <a:srgbClr val="207345"/>
                </a:solidFill>
                <a:latin typeface="Segoe UI"/>
                <a:cs typeface="Segoe UI"/>
              </a:defRPr>
            </a:lvl1pPr>
          </a:lstStyle>
          <a:p>
            <a:endParaRPr/>
          </a:p>
        </p:txBody>
      </p:sp>
      <p:sp>
        <p:nvSpPr>
          <p:cNvPr id="3" name="Holder 3"/>
          <p:cNvSpPr>
            <a:spLocks noGrp="1"/>
          </p:cNvSpPr>
          <p:nvPr>
            <p:ph type="ftr" sz="quarter" idx="5"/>
          </p:nvPr>
        </p:nvSpPr>
        <p:spPr/>
        <p:txBody>
          <a:bodyPr lIns="0" tIns="0" rIns="0" bIns="0"/>
          <a:lstStyle>
            <a:lvl1pPr>
              <a:defRPr sz="900" b="0" i="0">
                <a:solidFill>
                  <a:schemeClr val="bg1"/>
                </a:solidFill>
                <a:latin typeface="Segoe UI"/>
                <a:cs typeface="Segoe UI"/>
              </a:defRPr>
            </a:lvl1pPr>
          </a:lstStyle>
          <a:p>
            <a:pPr marL="12700">
              <a:lnSpc>
                <a:spcPct val="100000"/>
              </a:lnSpc>
              <a:spcBef>
                <a:spcPts val="170"/>
              </a:spcBef>
            </a:pPr>
            <a:r>
              <a:rPr dirty="0"/>
              <a:t>Made</a:t>
            </a:r>
            <a:r>
              <a:rPr spc="-15" dirty="0"/>
              <a:t> </a:t>
            </a:r>
            <a:r>
              <a:rPr dirty="0"/>
              <a:t>with</a:t>
            </a:r>
            <a:r>
              <a:rPr spc="-10" dirty="0"/>
              <a:t> Genspark</a:t>
            </a:r>
          </a:p>
        </p:txBody>
      </p:sp>
      <p:sp>
        <p:nvSpPr>
          <p:cNvPr id="4" name="Holder 4"/>
          <p:cNvSpPr>
            <a:spLocks noGrp="1"/>
          </p:cNvSpPr>
          <p:nvPr>
            <p:ph type="dt" sz="half" idx="6"/>
          </p:nvPr>
        </p:nvSpPr>
        <p:spPr/>
        <p:txBody>
          <a:bodyPr lIns="0" tIns="0" rIns="0" bIns="0"/>
          <a:lstStyle>
            <a:lvl1pPr>
              <a:defRPr sz="1050" b="0" i="0">
                <a:solidFill>
                  <a:srgbClr val="6A7280"/>
                </a:solidFill>
                <a:latin typeface="Segoe UI"/>
                <a:cs typeface="Segoe UI"/>
              </a:defRPr>
            </a:lvl1pPr>
          </a:lstStyle>
          <a:p>
            <a:pPr marL="12700">
              <a:lnSpc>
                <a:spcPct val="100000"/>
              </a:lnSpc>
              <a:spcBef>
                <a:spcPts val="180"/>
              </a:spcBef>
            </a:pPr>
            <a:r>
              <a:rPr dirty="0"/>
              <a:t>Power</a:t>
            </a:r>
            <a:r>
              <a:rPr spc="-15" dirty="0"/>
              <a:t> </a:t>
            </a:r>
            <a:r>
              <a:rPr dirty="0"/>
              <a:t>BI</a:t>
            </a:r>
            <a:r>
              <a:rPr spc="-15" dirty="0"/>
              <a:t> </a:t>
            </a:r>
            <a:r>
              <a:rPr dirty="0"/>
              <a:t>Aggregate</a:t>
            </a:r>
            <a:r>
              <a:rPr spc="-10" dirty="0"/>
              <a:t> Functions</a:t>
            </a: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900" b="0" i="0">
                <a:solidFill>
                  <a:schemeClr val="bg1"/>
                </a:solidFill>
                <a:latin typeface="Segoe UI"/>
                <a:cs typeface="Segoe UI"/>
              </a:defRPr>
            </a:lvl1pPr>
          </a:lstStyle>
          <a:p>
            <a:pPr marL="12700">
              <a:lnSpc>
                <a:spcPct val="100000"/>
              </a:lnSpc>
              <a:spcBef>
                <a:spcPts val="170"/>
              </a:spcBef>
            </a:pPr>
            <a:r>
              <a:rPr dirty="0"/>
              <a:t>Made</a:t>
            </a:r>
            <a:r>
              <a:rPr spc="-15" dirty="0"/>
              <a:t> </a:t>
            </a:r>
            <a:r>
              <a:rPr dirty="0"/>
              <a:t>with</a:t>
            </a:r>
            <a:r>
              <a:rPr spc="-10" dirty="0"/>
              <a:t> Genspark</a:t>
            </a:r>
          </a:p>
        </p:txBody>
      </p:sp>
      <p:sp>
        <p:nvSpPr>
          <p:cNvPr id="3" name="Holder 3"/>
          <p:cNvSpPr>
            <a:spLocks noGrp="1"/>
          </p:cNvSpPr>
          <p:nvPr>
            <p:ph type="dt" sz="half" idx="6"/>
          </p:nvPr>
        </p:nvSpPr>
        <p:spPr/>
        <p:txBody>
          <a:bodyPr lIns="0" tIns="0" rIns="0" bIns="0"/>
          <a:lstStyle>
            <a:lvl1pPr>
              <a:defRPr sz="1050" b="0" i="0">
                <a:solidFill>
                  <a:srgbClr val="6A7280"/>
                </a:solidFill>
                <a:latin typeface="Segoe UI"/>
                <a:cs typeface="Segoe UI"/>
              </a:defRPr>
            </a:lvl1pPr>
          </a:lstStyle>
          <a:p>
            <a:pPr marL="12700">
              <a:lnSpc>
                <a:spcPct val="100000"/>
              </a:lnSpc>
              <a:spcBef>
                <a:spcPts val="180"/>
              </a:spcBef>
            </a:pPr>
            <a:r>
              <a:rPr dirty="0"/>
              <a:t>Power</a:t>
            </a:r>
            <a:r>
              <a:rPr spc="-15" dirty="0"/>
              <a:t> </a:t>
            </a:r>
            <a:r>
              <a:rPr dirty="0"/>
              <a:t>BI</a:t>
            </a:r>
            <a:r>
              <a:rPr spc="-15" dirty="0"/>
              <a:t> </a:t>
            </a:r>
            <a:r>
              <a:rPr dirty="0"/>
              <a:t>Aggregate</a:t>
            </a:r>
            <a:r>
              <a:rPr spc="-10" dirty="0"/>
              <a:t> Functions</a:t>
            </a: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76200"/>
          </a:xfrm>
          <a:custGeom>
            <a:avLst/>
            <a:gdLst/>
            <a:ahLst/>
            <a:cxnLst/>
            <a:rect l="l" t="t" r="r" b="b"/>
            <a:pathLst>
              <a:path w="12192000" h="76200">
                <a:moveTo>
                  <a:pt x="12191999" y="76199"/>
                </a:moveTo>
                <a:lnTo>
                  <a:pt x="0" y="76199"/>
                </a:lnTo>
                <a:lnTo>
                  <a:pt x="0" y="0"/>
                </a:lnTo>
                <a:lnTo>
                  <a:pt x="12191999" y="0"/>
                </a:lnTo>
                <a:lnTo>
                  <a:pt x="12191999" y="76199"/>
                </a:lnTo>
                <a:close/>
              </a:path>
            </a:pathLst>
          </a:custGeom>
          <a:solidFill>
            <a:srgbClr val="207345"/>
          </a:solidFill>
        </p:spPr>
        <p:txBody>
          <a:bodyPr wrap="square" lIns="0" tIns="0" rIns="0" bIns="0" rtlCol="0"/>
          <a:lstStyle/>
          <a:p>
            <a:endParaRPr/>
          </a:p>
        </p:txBody>
      </p:sp>
      <p:sp>
        <p:nvSpPr>
          <p:cNvPr id="2" name="Holder 2"/>
          <p:cNvSpPr>
            <a:spLocks noGrp="1"/>
          </p:cNvSpPr>
          <p:nvPr>
            <p:ph type="title"/>
          </p:nvPr>
        </p:nvSpPr>
        <p:spPr>
          <a:xfrm>
            <a:off x="292099" y="358775"/>
            <a:ext cx="6742430" cy="436880"/>
          </a:xfrm>
          <a:prstGeom prst="rect">
            <a:avLst/>
          </a:prstGeom>
        </p:spPr>
        <p:txBody>
          <a:bodyPr wrap="square" lIns="0" tIns="0" rIns="0" bIns="0">
            <a:spAutoFit/>
          </a:bodyPr>
          <a:lstStyle>
            <a:lvl1pPr>
              <a:defRPr sz="2700" b="1" i="0">
                <a:solidFill>
                  <a:srgbClr val="207345"/>
                </a:solidFill>
                <a:latin typeface="Segoe UI"/>
                <a:cs typeface="Segoe UI"/>
              </a:defRPr>
            </a:lvl1pPr>
          </a:lstStyle>
          <a:p>
            <a:endParaRPr/>
          </a:p>
        </p:txBody>
      </p:sp>
      <p:sp>
        <p:nvSpPr>
          <p:cNvPr id="3" name="Holder 3"/>
          <p:cNvSpPr>
            <a:spLocks noGrp="1"/>
          </p:cNvSpPr>
          <p:nvPr>
            <p:ph type="body" idx="1"/>
          </p:nvPr>
        </p:nvSpPr>
        <p:spPr>
          <a:xfrm>
            <a:off x="611187" y="1058333"/>
            <a:ext cx="6129655" cy="2770504"/>
          </a:xfrm>
          <a:prstGeom prst="rect">
            <a:avLst/>
          </a:prstGeom>
        </p:spPr>
        <p:txBody>
          <a:bodyPr wrap="square" lIns="0" tIns="0" rIns="0" bIns="0">
            <a:spAutoFit/>
          </a:bodyPr>
          <a:lstStyle>
            <a:lvl1pPr>
              <a:defRPr sz="1500" b="1" i="0">
                <a:solidFill>
                  <a:schemeClr val="tx1"/>
                </a:solidFill>
                <a:latin typeface="Segoe UI Semibold"/>
                <a:cs typeface="Segoe UI Semibold"/>
              </a:defRPr>
            </a:lvl1pPr>
          </a:lstStyle>
          <a:p>
            <a:endParaRPr/>
          </a:p>
        </p:txBody>
      </p:sp>
      <p:sp>
        <p:nvSpPr>
          <p:cNvPr id="4" name="Holder 4"/>
          <p:cNvSpPr>
            <a:spLocks noGrp="1"/>
          </p:cNvSpPr>
          <p:nvPr>
            <p:ph type="ftr" sz="quarter" idx="5"/>
          </p:nvPr>
        </p:nvSpPr>
        <p:spPr>
          <a:xfrm>
            <a:off x="10837018" y="6417158"/>
            <a:ext cx="1062990" cy="177800"/>
          </a:xfrm>
          <a:prstGeom prst="rect">
            <a:avLst/>
          </a:prstGeom>
        </p:spPr>
        <p:txBody>
          <a:bodyPr wrap="square" lIns="0" tIns="0" rIns="0" bIns="0">
            <a:spAutoFit/>
          </a:bodyPr>
          <a:lstStyle>
            <a:lvl1pPr>
              <a:defRPr sz="900" b="0" i="0">
                <a:solidFill>
                  <a:schemeClr val="bg1"/>
                </a:solidFill>
                <a:latin typeface="Segoe UI"/>
                <a:cs typeface="Segoe UI"/>
              </a:defRPr>
            </a:lvl1pPr>
          </a:lstStyle>
          <a:p>
            <a:pPr marL="12700">
              <a:lnSpc>
                <a:spcPct val="100000"/>
              </a:lnSpc>
              <a:spcBef>
                <a:spcPts val="170"/>
              </a:spcBef>
            </a:pPr>
            <a:r>
              <a:rPr dirty="0"/>
              <a:t>Made</a:t>
            </a:r>
            <a:r>
              <a:rPr spc="-15" dirty="0"/>
              <a:t> </a:t>
            </a:r>
            <a:r>
              <a:rPr dirty="0"/>
              <a:t>with</a:t>
            </a:r>
            <a:r>
              <a:rPr spc="-10" dirty="0"/>
              <a:t> Genspark</a:t>
            </a:r>
          </a:p>
        </p:txBody>
      </p:sp>
      <p:sp>
        <p:nvSpPr>
          <p:cNvPr id="5" name="Holder 5"/>
          <p:cNvSpPr>
            <a:spLocks noGrp="1"/>
          </p:cNvSpPr>
          <p:nvPr>
            <p:ph type="dt" sz="half" idx="6"/>
          </p:nvPr>
        </p:nvSpPr>
        <p:spPr>
          <a:xfrm>
            <a:off x="10106868" y="6501376"/>
            <a:ext cx="1793240" cy="203200"/>
          </a:xfrm>
          <a:prstGeom prst="rect">
            <a:avLst/>
          </a:prstGeom>
        </p:spPr>
        <p:txBody>
          <a:bodyPr wrap="square" lIns="0" tIns="0" rIns="0" bIns="0">
            <a:spAutoFit/>
          </a:bodyPr>
          <a:lstStyle>
            <a:lvl1pPr>
              <a:defRPr sz="1050" b="0" i="0">
                <a:solidFill>
                  <a:srgbClr val="6A7280"/>
                </a:solidFill>
                <a:latin typeface="Segoe UI"/>
                <a:cs typeface="Segoe UI"/>
              </a:defRPr>
            </a:lvl1pPr>
          </a:lstStyle>
          <a:p>
            <a:pPr marL="12700">
              <a:lnSpc>
                <a:spcPct val="100000"/>
              </a:lnSpc>
              <a:spcBef>
                <a:spcPts val="180"/>
              </a:spcBef>
            </a:pPr>
            <a:r>
              <a:rPr dirty="0"/>
              <a:t>Power</a:t>
            </a:r>
            <a:r>
              <a:rPr spc="-15" dirty="0"/>
              <a:t> </a:t>
            </a:r>
            <a:r>
              <a:rPr dirty="0"/>
              <a:t>BI</a:t>
            </a:r>
            <a:r>
              <a:rPr spc="-15" dirty="0"/>
              <a:t> </a:t>
            </a:r>
            <a:r>
              <a:rPr dirty="0"/>
              <a:t>Aggregate</a:t>
            </a:r>
            <a:r>
              <a:rPr spc="-10" dirty="0"/>
              <a:t> Functions</a:t>
            </a:r>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F0E3B9-0FDC-BF90-3BD9-6818F0D683CA}"/>
              </a:ext>
            </a:extLst>
          </p:cNvPr>
          <p:cNvSpPr/>
          <p:nvPr/>
        </p:nvSpPr>
        <p:spPr>
          <a:xfrm>
            <a:off x="81474" y="75407"/>
            <a:ext cx="5663565" cy="6781006"/>
          </a:xfrm>
          <a:prstGeom prst="rect">
            <a:avLst/>
          </a:prstGeom>
          <a:ln>
            <a:solidFill>
              <a:schemeClr val="bg1"/>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IN"/>
          </a:p>
        </p:txBody>
      </p:sp>
      <p:sp>
        <p:nvSpPr>
          <p:cNvPr id="6" name="object 6"/>
          <p:cNvSpPr txBox="1">
            <a:spLocks noGrp="1"/>
          </p:cNvSpPr>
          <p:nvPr>
            <p:ph type="title"/>
          </p:nvPr>
        </p:nvSpPr>
        <p:spPr>
          <a:xfrm>
            <a:off x="444500" y="1120775"/>
            <a:ext cx="4495165" cy="1038746"/>
          </a:xfrm>
          <a:prstGeom prst="rect">
            <a:avLst/>
          </a:prstGeom>
        </p:spPr>
        <p:txBody>
          <a:bodyPr vert="horz" wrap="square" lIns="0" tIns="12700" rIns="0" bIns="0" rtlCol="0">
            <a:spAutoFit/>
          </a:bodyPr>
          <a:lstStyle/>
          <a:p>
            <a:pPr marL="12700">
              <a:lnSpc>
                <a:spcPts val="3960"/>
              </a:lnSpc>
              <a:spcBef>
                <a:spcPts val="100"/>
              </a:spcBef>
            </a:pPr>
            <a:r>
              <a:rPr lang="en-IN" sz="4000" dirty="0"/>
              <a:t>Olist Store </a:t>
            </a:r>
            <a:br>
              <a:rPr lang="en-IN" sz="4000" dirty="0"/>
            </a:br>
            <a:r>
              <a:rPr lang="en-IN" sz="4000" dirty="0"/>
              <a:t>Analysis</a:t>
            </a:r>
            <a:endParaRPr sz="4000" dirty="0"/>
          </a:p>
        </p:txBody>
      </p:sp>
      <p:sp>
        <p:nvSpPr>
          <p:cNvPr id="7" name="object 7"/>
          <p:cNvSpPr txBox="1"/>
          <p:nvPr/>
        </p:nvSpPr>
        <p:spPr>
          <a:xfrm>
            <a:off x="444500" y="2159521"/>
            <a:ext cx="3365500" cy="228268"/>
          </a:xfrm>
          <a:prstGeom prst="rect">
            <a:avLst/>
          </a:prstGeom>
        </p:spPr>
        <p:txBody>
          <a:bodyPr vert="horz" wrap="square" lIns="0" tIns="12700" rIns="0" bIns="0" rtlCol="0">
            <a:spAutoFit/>
          </a:bodyPr>
          <a:lstStyle/>
          <a:p>
            <a:pPr marL="12700">
              <a:lnSpc>
                <a:spcPct val="100000"/>
              </a:lnSpc>
              <a:spcBef>
                <a:spcPts val="100"/>
              </a:spcBef>
            </a:pPr>
            <a:r>
              <a:rPr lang="en-IN" sz="1400" b="1" dirty="0">
                <a:solidFill>
                  <a:schemeClr val="tx1"/>
                </a:solidFill>
              </a:rPr>
              <a:t>Sales &amp; Profit Performance Analysis</a:t>
            </a:r>
            <a:endParaRPr sz="1400" b="1" dirty="0">
              <a:solidFill>
                <a:schemeClr val="tx1"/>
              </a:solidFill>
              <a:latin typeface="Segoe UI Semibold"/>
              <a:cs typeface="Segoe UI Semibold"/>
            </a:endParaRPr>
          </a:p>
        </p:txBody>
      </p:sp>
      <p:sp>
        <p:nvSpPr>
          <p:cNvPr id="12" name="object 12"/>
          <p:cNvSpPr txBox="1"/>
          <p:nvPr/>
        </p:nvSpPr>
        <p:spPr>
          <a:xfrm>
            <a:off x="444500" y="3000374"/>
            <a:ext cx="5663565" cy="184665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200000"/>
              </a:lnSpc>
              <a:spcBef>
                <a:spcPts val="125"/>
              </a:spcBef>
              <a:spcAft>
                <a:spcPts val="0"/>
              </a:spcAft>
              <a:buClrTx/>
              <a:buSzTx/>
              <a:buFontTx/>
              <a:buNone/>
              <a:tabLst/>
              <a:defRPr/>
            </a:pPr>
            <a:r>
              <a:rPr kumimoji="0" lang="en-IN" b="1" i="0" u="none" strike="noStrike" kern="1200" cap="none" spc="-145"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GROUP</a:t>
            </a:r>
            <a:r>
              <a:rPr kumimoji="0" lang="en-IN" b="1" i="0" u="none" strike="noStrike" kern="1200" cap="none" spc="5"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IN" b="1" i="0" u="none" strike="noStrike" kern="1200" cap="none" spc="-6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NO.:</a:t>
            </a:r>
            <a:r>
              <a:rPr kumimoji="0" lang="en-IN" b="1"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IN" b="1" i="0" u="none" strike="noStrike" kern="1200" cap="none" spc="-25"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r>
              <a:rPr kumimoji="0" lang="en-IN" b="1" i="0" u="none" strike="noStrike" kern="1200" cap="none" spc="-5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2</a:t>
            </a:r>
            <a:endParaRPr kumimoji="0" lang="en-IN" b="1"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p>
            <a:pPr marL="342900" indent="-342900">
              <a:lnSpc>
                <a:spcPct val="200000"/>
              </a:lnSpc>
              <a:buAutoNum type="arabicPeriod"/>
            </a:pPr>
            <a:r>
              <a:rPr lang="en-IN" sz="1400" b="1" dirty="0"/>
              <a:t>Kumud Kundan Patil</a:t>
            </a:r>
          </a:p>
          <a:p>
            <a:pPr marL="342900" indent="-342900">
              <a:lnSpc>
                <a:spcPct val="200000"/>
              </a:lnSpc>
              <a:buAutoNum type="arabicPeriod"/>
            </a:pPr>
            <a:r>
              <a:rPr lang="en-IN" sz="1400" b="1" dirty="0"/>
              <a:t>Amanveer Pratap</a:t>
            </a:r>
          </a:p>
          <a:p>
            <a:pPr marL="12700" marR="0" lvl="0" algn="l" defTabSz="914400" rtl="0" eaLnBrk="1" fontAlgn="auto" latinLnBrk="0" hangingPunct="1">
              <a:lnSpc>
                <a:spcPct val="100000"/>
              </a:lnSpc>
              <a:spcBef>
                <a:spcPts val="1445"/>
              </a:spcBef>
              <a:spcAft>
                <a:spcPts val="0"/>
              </a:spcAft>
              <a:buClrTx/>
              <a:buSzTx/>
              <a:tabLst>
                <a:tab pos="927100" algn="l"/>
              </a:tabLst>
              <a:defRPr/>
            </a:pPr>
            <a:endParaRPr kumimoji="0" lang="en-IN" sz="15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4" name="object 22">
            <a:extLst>
              <a:ext uri="{FF2B5EF4-FFF2-40B4-BE49-F238E27FC236}">
                <a16:creationId xmlns:a16="http://schemas.microsoft.com/office/drawing/2014/main" id="{01E8F059-53E1-5F08-BFA9-45C6845A4E8B}"/>
              </a:ext>
            </a:extLst>
          </p:cNvPr>
          <p:cNvSpPr txBox="1">
            <a:spLocks noGrp="1"/>
          </p:cNvSpPr>
          <p:nvPr>
            <p:ph type="dt" sz="half" idx="6"/>
          </p:nvPr>
        </p:nvSpPr>
        <p:spPr>
          <a:xfrm>
            <a:off x="10106868" y="6501376"/>
            <a:ext cx="1793240" cy="184666"/>
          </a:xfrm>
          <a:prstGeom prst="rect">
            <a:avLst/>
          </a:prstGeom>
        </p:spPr>
        <p:txBody>
          <a:bodyPr vert="horz" wrap="square" lIns="0" tIns="22860" rIns="0" bIns="0" rtlCol="0">
            <a:spAutoFit/>
          </a:bodyPr>
          <a:lstStyle/>
          <a:p>
            <a:r>
              <a:rPr lang="en-US" dirty="0"/>
              <a:t>Olist Store Analysis</a:t>
            </a:r>
            <a:endParaRPr lang="en-IN" dirty="0">
              <a:effectLst/>
            </a:endParaRPr>
          </a:p>
        </p:txBody>
      </p:sp>
      <p:sp>
        <p:nvSpPr>
          <p:cNvPr id="3" name="TextBox 2">
            <a:extLst>
              <a:ext uri="{FF2B5EF4-FFF2-40B4-BE49-F238E27FC236}">
                <a16:creationId xmlns:a16="http://schemas.microsoft.com/office/drawing/2014/main" id="{F02054AC-6CF6-9670-79D6-223B99D72924}"/>
              </a:ext>
            </a:extLst>
          </p:cNvPr>
          <p:cNvSpPr txBox="1"/>
          <p:nvPr/>
        </p:nvSpPr>
        <p:spPr>
          <a:xfrm>
            <a:off x="6172200" y="3142743"/>
            <a:ext cx="2838449" cy="646331"/>
          </a:xfrm>
          <a:prstGeom prst="rect">
            <a:avLst/>
          </a:prstGeom>
          <a:noFill/>
        </p:spPr>
        <p:txBody>
          <a:bodyPr wrap="square" rtlCol="0">
            <a:spAutoFit/>
          </a:bodyPr>
          <a:lstStyle/>
          <a:p>
            <a:r>
              <a:rPr lang="en-IN" b="1" dirty="0"/>
              <a:t>Tools &amp; Technologies</a:t>
            </a:r>
          </a:p>
          <a:p>
            <a:endParaRPr lang="en-IN" dirty="0"/>
          </a:p>
        </p:txBody>
      </p:sp>
      <p:pic>
        <p:nvPicPr>
          <p:cNvPr id="9" name="Picture 8">
            <a:extLst>
              <a:ext uri="{FF2B5EF4-FFF2-40B4-BE49-F238E27FC236}">
                <a16:creationId xmlns:a16="http://schemas.microsoft.com/office/drawing/2014/main" id="{6DD9DEE1-A29B-8D79-267E-5EAA48C67C0E}"/>
              </a:ext>
            </a:extLst>
          </p:cNvPr>
          <p:cNvPicPr>
            <a:picLocks noChangeAspect="1"/>
          </p:cNvPicPr>
          <p:nvPr/>
        </p:nvPicPr>
        <p:blipFill>
          <a:blip r:embed="rId2"/>
          <a:stretch>
            <a:fillRect/>
          </a:stretch>
        </p:blipFill>
        <p:spPr>
          <a:xfrm>
            <a:off x="6172200" y="3885406"/>
            <a:ext cx="4876800" cy="1238423"/>
          </a:xfrm>
          <a:prstGeom prst="rect">
            <a:avLst/>
          </a:prstGeom>
        </p:spPr>
      </p:pic>
      <p:sp>
        <p:nvSpPr>
          <p:cNvPr id="10" name="TextBox 9">
            <a:extLst>
              <a:ext uri="{FF2B5EF4-FFF2-40B4-BE49-F238E27FC236}">
                <a16:creationId xmlns:a16="http://schemas.microsoft.com/office/drawing/2014/main" id="{5EEB6844-2A10-8E1C-7C3C-DDF0BCCDC985}"/>
              </a:ext>
            </a:extLst>
          </p:cNvPr>
          <p:cNvSpPr txBox="1"/>
          <p:nvPr/>
        </p:nvSpPr>
        <p:spPr>
          <a:xfrm>
            <a:off x="6108065" y="1145119"/>
            <a:ext cx="2838449" cy="369332"/>
          </a:xfrm>
          <a:prstGeom prst="rect">
            <a:avLst/>
          </a:prstGeom>
          <a:noFill/>
        </p:spPr>
        <p:txBody>
          <a:bodyPr wrap="square" rtlCol="0">
            <a:spAutoFit/>
          </a:bodyPr>
          <a:lstStyle/>
          <a:p>
            <a:r>
              <a:rPr lang="en-US" b="1" dirty="0"/>
              <a:t>Project Overview</a:t>
            </a:r>
            <a:endParaRPr lang="en-IN" b="1" dirty="0"/>
          </a:p>
        </p:txBody>
      </p:sp>
      <p:sp>
        <p:nvSpPr>
          <p:cNvPr id="11" name="TextBox 10">
            <a:extLst>
              <a:ext uri="{FF2B5EF4-FFF2-40B4-BE49-F238E27FC236}">
                <a16:creationId xmlns:a16="http://schemas.microsoft.com/office/drawing/2014/main" id="{643579DD-3A85-788D-B1D4-A7E8879DA543}"/>
              </a:ext>
            </a:extLst>
          </p:cNvPr>
          <p:cNvSpPr txBox="1"/>
          <p:nvPr/>
        </p:nvSpPr>
        <p:spPr>
          <a:xfrm>
            <a:off x="6172200" y="1640148"/>
            <a:ext cx="4876800" cy="954107"/>
          </a:xfrm>
          <a:prstGeom prst="rect">
            <a:avLst/>
          </a:prstGeom>
          <a:noFill/>
        </p:spPr>
        <p:txBody>
          <a:bodyPr wrap="square" rtlCol="0">
            <a:spAutoFit/>
          </a:bodyPr>
          <a:lstStyle/>
          <a:p>
            <a:pPr algn="just"/>
            <a:r>
              <a:rPr lang="en-US" sz="1400" dirty="0">
                <a:latin typeface="Arial" panose="020B0604020202020204" pitchFamily="34" charset="0"/>
                <a:cs typeface="Arial" panose="020B0604020202020204" pitchFamily="34" charset="0"/>
              </a:rPr>
              <a:t>This project analyzes sales, profit, cost, customer, product, performance of Adventure Works Cycles. The objective is to derive business insights using SQL queries and visualize them through Power BI, Tableau, and Excel dashboards.</a:t>
            </a:r>
            <a:endParaRPr lang="en-IN" sz="1400" dirty="0">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6C5218-308E-BAFB-AFC6-F29197371F23}"/>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EB4E23AC-138C-779A-44A0-2325C5AF440D}"/>
              </a:ext>
            </a:extLst>
          </p:cNvPr>
          <p:cNvSpPr txBox="1">
            <a:spLocks noGrp="1"/>
          </p:cNvSpPr>
          <p:nvPr>
            <p:ph type="title"/>
          </p:nvPr>
        </p:nvSpPr>
        <p:spPr>
          <a:xfrm>
            <a:off x="339024" y="380206"/>
            <a:ext cx="1917700" cy="525785"/>
          </a:xfrm>
          <a:prstGeom prst="rect">
            <a:avLst/>
          </a:prstGeom>
        </p:spPr>
        <p:txBody>
          <a:bodyPr vert="horz" wrap="square" lIns="0" tIns="12700" rIns="0" bIns="0" rtlCol="0">
            <a:spAutoFit/>
          </a:bodyPr>
          <a:lstStyle/>
          <a:p>
            <a:pPr marL="12700">
              <a:lnSpc>
                <a:spcPts val="3960"/>
              </a:lnSpc>
              <a:spcBef>
                <a:spcPts val="100"/>
              </a:spcBef>
            </a:pPr>
            <a:r>
              <a:rPr lang="en-US" sz="3600" dirty="0"/>
              <a:t>A</a:t>
            </a:r>
            <a:r>
              <a:rPr lang="en-IN" sz="3600" dirty="0"/>
              <a:t>genda</a:t>
            </a:r>
            <a:endParaRPr sz="3600" dirty="0"/>
          </a:p>
        </p:txBody>
      </p:sp>
      <p:sp>
        <p:nvSpPr>
          <p:cNvPr id="7" name="object 7">
            <a:extLst>
              <a:ext uri="{FF2B5EF4-FFF2-40B4-BE49-F238E27FC236}">
                <a16:creationId xmlns:a16="http://schemas.microsoft.com/office/drawing/2014/main" id="{FD736B6E-7DED-9C28-F5E4-D99EA10B1115}"/>
              </a:ext>
            </a:extLst>
          </p:cNvPr>
          <p:cNvSpPr txBox="1"/>
          <p:nvPr/>
        </p:nvSpPr>
        <p:spPr>
          <a:xfrm>
            <a:off x="339024" y="893413"/>
            <a:ext cx="3563752" cy="428322"/>
          </a:xfrm>
          <a:prstGeom prst="rect">
            <a:avLst/>
          </a:prstGeom>
        </p:spPr>
        <p:txBody>
          <a:bodyPr vert="horz" wrap="square" lIns="0" tIns="12700" rIns="0" bIns="0" rtlCol="0">
            <a:spAutoFit/>
          </a:bodyPr>
          <a:lstStyle/>
          <a:p>
            <a:pPr marL="12700">
              <a:lnSpc>
                <a:spcPct val="100000"/>
              </a:lnSpc>
              <a:spcBef>
                <a:spcPts val="100"/>
              </a:spcBef>
            </a:pPr>
            <a:r>
              <a:rPr sz="2700" b="1" dirty="0">
                <a:solidFill>
                  <a:srgbClr val="F1C711"/>
                </a:solidFill>
                <a:latin typeface="Segoe UI Semibold"/>
                <a:cs typeface="Segoe UI Semibold"/>
              </a:rPr>
              <a:t>P</a:t>
            </a:r>
            <a:r>
              <a:rPr lang="en-US" sz="2700" b="1" dirty="0">
                <a:solidFill>
                  <a:srgbClr val="F1C711"/>
                </a:solidFill>
                <a:latin typeface="Segoe UI Semibold"/>
                <a:cs typeface="Segoe UI Semibold"/>
              </a:rPr>
              <a:t>resentation Outline</a:t>
            </a:r>
            <a:endParaRPr sz="2700" dirty="0">
              <a:latin typeface="Segoe UI Semibold"/>
              <a:cs typeface="Segoe UI Semibold"/>
            </a:endParaRPr>
          </a:p>
        </p:txBody>
      </p:sp>
      <p:grpSp>
        <p:nvGrpSpPr>
          <p:cNvPr id="2" name="object 13">
            <a:extLst>
              <a:ext uri="{FF2B5EF4-FFF2-40B4-BE49-F238E27FC236}">
                <a16:creationId xmlns:a16="http://schemas.microsoft.com/office/drawing/2014/main" id="{44884FD7-7E08-BEBC-B91D-9D5900CA8560}"/>
              </a:ext>
            </a:extLst>
          </p:cNvPr>
          <p:cNvGrpSpPr/>
          <p:nvPr/>
        </p:nvGrpSpPr>
        <p:grpSpPr>
          <a:xfrm>
            <a:off x="328026" y="1370806"/>
            <a:ext cx="4829493" cy="729173"/>
            <a:chOff x="7058024" y="4286251"/>
            <a:chExt cx="4829493" cy="1257499"/>
          </a:xfrm>
        </p:grpSpPr>
        <p:sp>
          <p:nvSpPr>
            <p:cNvPr id="3" name="object 14">
              <a:extLst>
                <a:ext uri="{FF2B5EF4-FFF2-40B4-BE49-F238E27FC236}">
                  <a16:creationId xmlns:a16="http://schemas.microsoft.com/office/drawing/2014/main" id="{1ADCA808-11DE-07D1-819D-2A7B865C2A98}"/>
                </a:ext>
              </a:extLst>
            </p:cNvPr>
            <p:cNvSpPr/>
            <p:nvPr/>
          </p:nvSpPr>
          <p:spPr>
            <a:xfrm>
              <a:off x="7081837" y="4286251"/>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dirty="0"/>
            </a:p>
          </p:txBody>
        </p:sp>
        <p:sp>
          <p:nvSpPr>
            <p:cNvPr id="4" name="object 15">
              <a:extLst>
                <a:ext uri="{FF2B5EF4-FFF2-40B4-BE49-F238E27FC236}">
                  <a16:creationId xmlns:a16="http://schemas.microsoft.com/office/drawing/2014/main" id="{EB38A0F7-36FE-5044-97F4-2A504F3BBD08}"/>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grpSp>
        <p:nvGrpSpPr>
          <p:cNvPr id="25" name="object 13">
            <a:extLst>
              <a:ext uri="{FF2B5EF4-FFF2-40B4-BE49-F238E27FC236}">
                <a16:creationId xmlns:a16="http://schemas.microsoft.com/office/drawing/2014/main" id="{54936E0D-50F7-A18F-79E8-37198EEAB9BE}"/>
              </a:ext>
            </a:extLst>
          </p:cNvPr>
          <p:cNvGrpSpPr/>
          <p:nvPr/>
        </p:nvGrpSpPr>
        <p:grpSpPr>
          <a:xfrm>
            <a:off x="328026" y="2236925"/>
            <a:ext cx="4829175" cy="729058"/>
            <a:chOff x="7058024" y="4286249"/>
            <a:chExt cx="4829175" cy="1257300"/>
          </a:xfrm>
        </p:grpSpPr>
        <p:sp>
          <p:nvSpPr>
            <p:cNvPr id="26" name="object 14">
              <a:extLst>
                <a:ext uri="{FF2B5EF4-FFF2-40B4-BE49-F238E27FC236}">
                  <a16:creationId xmlns:a16="http://schemas.microsoft.com/office/drawing/2014/main" id="{62FFA4EF-EC56-9447-9F1A-7B3C04285E22}"/>
                </a:ext>
              </a:extLst>
            </p:cNvPr>
            <p:cNvSpPr/>
            <p:nvPr/>
          </p:nvSpPr>
          <p:spPr>
            <a:xfrm>
              <a:off x="7081837" y="4286249"/>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a:p>
          </p:txBody>
        </p:sp>
        <p:sp>
          <p:nvSpPr>
            <p:cNvPr id="27" name="object 15">
              <a:extLst>
                <a:ext uri="{FF2B5EF4-FFF2-40B4-BE49-F238E27FC236}">
                  <a16:creationId xmlns:a16="http://schemas.microsoft.com/office/drawing/2014/main" id="{2A5D8356-D7A8-F705-0243-58EF1F4F3B6E}"/>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grpSp>
        <p:nvGrpSpPr>
          <p:cNvPr id="28" name="object 13">
            <a:extLst>
              <a:ext uri="{FF2B5EF4-FFF2-40B4-BE49-F238E27FC236}">
                <a16:creationId xmlns:a16="http://schemas.microsoft.com/office/drawing/2014/main" id="{D325BB62-8A7B-D2D7-8737-5B54417BCAC3}"/>
              </a:ext>
            </a:extLst>
          </p:cNvPr>
          <p:cNvGrpSpPr/>
          <p:nvPr/>
        </p:nvGrpSpPr>
        <p:grpSpPr>
          <a:xfrm>
            <a:off x="339024" y="3102926"/>
            <a:ext cx="4829175" cy="729058"/>
            <a:chOff x="7058024" y="4286249"/>
            <a:chExt cx="4829175" cy="1257300"/>
          </a:xfrm>
        </p:grpSpPr>
        <p:sp>
          <p:nvSpPr>
            <p:cNvPr id="29" name="object 14">
              <a:extLst>
                <a:ext uri="{FF2B5EF4-FFF2-40B4-BE49-F238E27FC236}">
                  <a16:creationId xmlns:a16="http://schemas.microsoft.com/office/drawing/2014/main" id="{505E91E5-0857-CF8F-AA32-17E03CB55418}"/>
                </a:ext>
              </a:extLst>
            </p:cNvPr>
            <p:cNvSpPr/>
            <p:nvPr/>
          </p:nvSpPr>
          <p:spPr>
            <a:xfrm>
              <a:off x="7081837" y="4286249"/>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a:p>
          </p:txBody>
        </p:sp>
        <p:sp>
          <p:nvSpPr>
            <p:cNvPr id="30" name="object 15">
              <a:extLst>
                <a:ext uri="{FF2B5EF4-FFF2-40B4-BE49-F238E27FC236}">
                  <a16:creationId xmlns:a16="http://schemas.microsoft.com/office/drawing/2014/main" id="{7B3A0AA6-C61A-ED04-DC04-3C68FFD41FA8}"/>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grpSp>
        <p:nvGrpSpPr>
          <p:cNvPr id="31" name="object 13">
            <a:extLst>
              <a:ext uri="{FF2B5EF4-FFF2-40B4-BE49-F238E27FC236}">
                <a16:creationId xmlns:a16="http://schemas.microsoft.com/office/drawing/2014/main" id="{E4257EB4-0557-AE79-932E-D880BF633F0C}"/>
              </a:ext>
            </a:extLst>
          </p:cNvPr>
          <p:cNvGrpSpPr/>
          <p:nvPr/>
        </p:nvGrpSpPr>
        <p:grpSpPr>
          <a:xfrm>
            <a:off x="339024" y="3968810"/>
            <a:ext cx="4829175" cy="729058"/>
            <a:chOff x="7058024" y="4286249"/>
            <a:chExt cx="4829175" cy="1257300"/>
          </a:xfrm>
        </p:grpSpPr>
        <p:sp>
          <p:nvSpPr>
            <p:cNvPr id="32" name="object 14">
              <a:extLst>
                <a:ext uri="{FF2B5EF4-FFF2-40B4-BE49-F238E27FC236}">
                  <a16:creationId xmlns:a16="http://schemas.microsoft.com/office/drawing/2014/main" id="{9E744F8D-C024-98DD-4160-9C6D6D3E6ECA}"/>
                </a:ext>
              </a:extLst>
            </p:cNvPr>
            <p:cNvSpPr/>
            <p:nvPr/>
          </p:nvSpPr>
          <p:spPr>
            <a:xfrm>
              <a:off x="7081837" y="4286249"/>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a:p>
          </p:txBody>
        </p:sp>
        <p:sp>
          <p:nvSpPr>
            <p:cNvPr id="33" name="object 15">
              <a:extLst>
                <a:ext uri="{FF2B5EF4-FFF2-40B4-BE49-F238E27FC236}">
                  <a16:creationId xmlns:a16="http://schemas.microsoft.com/office/drawing/2014/main" id="{0E44A444-00C3-6F6D-D5E5-66122D0FB597}"/>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grpSp>
        <p:nvGrpSpPr>
          <p:cNvPr id="36" name="object 13">
            <a:extLst>
              <a:ext uri="{FF2B5EF4-FFF2-40B4-BE49-F238E27FC236}">
                <a16:creationId xmlns:a16="http://schemas.microsoft.com/office/drawing/2014/main" id="{FBC4D855-D650-2E01-4D8B-66596060440D}"/>
              </a:ext>
            </a:extLst>
          </p:cNvPr>
          <p:cNvGrpSpPr/>
          <p:nvPr/>
        </p:nvGrpSpPr>
        <p:grpSpPr>
          <a:xfrm>
            <a:off x="328026" y="5690874"/>
            <a:ext cx="4829175" cy="729058"/>
            <a:chOff x="7058024" y="4286249"/>
            <a:chExt cx="4829175" cy="1257300"/>
          </a:xfrm>
        </p:grpSpPr>
        <p:sp>
          <p:nvSpPr>
            <p:cNvPr id="37" name="object 14">
              <a:extLst>
                <a:ext uri="{FF2B5EF4-FFF2-40B4-BE49-F238E27FC236}">
                  <a16:creationId xmlns:a16="http://schemas.microsoft.com/office/drawing/2014/main" id="{A771119A-A633-35E5-ABED-35827AA05749}"/>
                </a:ext>
              </a:extLst>
            </p:cNvPr>
            <p:cNvSpPr/>
            <p:nvPr/>
          </p:nvSpPr>
          <p:spPr>
            <a:xfrm>
              <a:off x="7081837" y="4286249"/>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a:p>
          </p:txBody>
        </p:sp>
        <p:sp>
          <p:nvSpPr>
            <p:cNvPr id="38" name="object 15">
              <a:extLst>
                <a:ext uri="{FF2B5EF4-FFF2-40B4-BE49-F238E27FC236}">
                  <a16:creationId xmlns:a16="http://schemas.microsoft.com/office/drawing/2014/main" id="{903ED3A8-054B-0D03-CAAE-07E170A7CCFF}"/>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grpSp>
        <p:nvGrpSpPr>
          <p:cNvPr id="39" name="object 13">
            <a:extLst>
              <a:ext uri="{FF2B5EF4-FFF2-40B4-BE49-F238E27FC236}">
                <a16:creationId xmlns:a16="http://schemas.microsoft.com/office/drawing/2014/main" id="{F4B38DD9-848B-912E-E8A9-306DBDB0450D}"/>
              </a:ext>
            </a:extLst>
          </p:cNvPr>
          <p:cNvGrpSpPr/>
          <p:nvPr/>
        </p:nvGrpSpPr>
        <p:grpSpPr>
          <a:xfrm>
            <a:off x="328026" y="4834577"/>
            <a:ext cx="4829175" cy="729058"/>
            <a:chOff x="7058024" y="4286249"/>
            <a:chExt cx="4829175" cy="1257300"/>
          </a:xfrm>
        </p:grpSpPr>
        <p:sp>
          <p:nvSpPr>
            <p:cNvPr id="40" name="object 14">
              <a:extLst>
                <a:ext uri="{FF2B5EF4-FFF2-40B4-BE49-F238E27FC236}">
                  <a16:creationId xmlns:a16="http://schemas.microsoft.com/office/drawing/2014/main" id="{2A5EA8CD-1C63-0CF3-1049-EC42670EF2AE}"/>
                </a:ext>
              </a:extLst>
            </p:cNvPr>
            <p:cNvSpPr/>
            <p:nvPr/>
          </p:nvSpPr>
          <p:spPr>
            <a:xfrm>
              <a:off x="7081837" y="4286249"/>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a:p>
          </p:txBody>
        </p:sp>
        <p:sp>
          <p:nvSpPr>
            <p:cNvPr id="41" name="object 15">
              <a:extLst>
                <a:ext uri="{FF2B5EF4-FFF2-40B4-BE49-F238E27FC236}">
                  <a16:creationId xmlns:a16="http://schemas.microsoft.com/office/drawing/2014/main" id="{6E31E798-5F15-BD7B-2BD3-1C157F19EF1A}"/>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grpSp>
        <p:nvGrpSpPr>
          <p:cNvPr id="45" name="object 13">
            <a:extLst>
              <a:ext uri="{FF2B5EF4-FFF2-40B4-BE49-F238E27FC236}">
                <a16:creationId xmlns:a16="http://schemas.microsoft.com/office/drawing/2014/main" id="{081CB6D1-B6A1-27E8-F903-39A0270B4A08}"/>
              </a:ext>
            </a:extLst>
          </p:cNvPr>
          <p:cNvGrpSpPr/>
          <p:nvPr/>
        </p:nvGrpSpPr>
        <p:grpSpPr>
          <a:xfrm>
            <a:off x="5638800" y="1503281"/>
            <a:ext cx="4829175" cy="729058"/>
            <a:chOff x="7058024" y="4286249"/>
            <a:chExt cx="4829175" cy="1257300"/>
          </a:xfrm>
        </p:grpSpPr>
        <p:sp>
          <p:nvSpPr>
            <p:cNvPr id="46" name="object 14">
              <a:extLst>
                <a:ext uri="{FF2B5EF4-FFF2-40B4-BE49-F238E27FC236}">
                  <a16:creationId xmlns:a16="http://schemas.microsoft.com/office/drawing/2014/main" id="{4F85DA89-BC2C-79D9-A3A1-531FC9A0DE69}"/>
                </a:ext>
              </a:extLst>
            </p:cNvPr>
            <p:cNvSpPr/>
            <p:nvPr/>
          </p:nvSpPr>
          <p:spPr>
            <a:xfrm>
              <a:off x="7081837" y="4286249"/>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a:p>
          </p:txBody>
        </p:sp>
        <p:sp>
          <p:nvSpPr>
            <p:cNvPr id="47" name="object 15">
              <a:extLst>
                <a:ext uri="{FF2B5EF4-FFF2-40B4-BE49-F238E27FC236}">
                  <a16:creationId xmlns:a16="http://schemas.microsoft.com/office/drawing/2014/main" id="{DEAF7A79-146B-4404-5361-637EA5A38065}"/>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grpSp>
        <p:nvGrpSpPr>
          <p:cNvPr id="48" name="object 13">
            <a:extLst>
              <a:ext uri="{FF2B5EF4-FFF2-40B4-BE49-F238E27FC236}">
                <a16:creationId xmlns:a16="http://schemas.microsoft.com/office/drawing/2014/main" id="{3DFF4C37-CC08-B7C0-BF28-602F80804D2F}"/>
              </a:ext>
            </a:extLst>
          </p:cNvPr>
          <p:cNvGrpSpPr/>
          <p:nvPr/>
        </p:nvGrpSpPr>
        <p:grpSpPr>
          <a:xfrm>
            <a:off x="5638800" y="2369399"/>
            <a:ext cx="4829175" cy="729058"/>
            <a:chOff x="7058024" y="4286249"/>
            <a:chExt cx="4829175" cy="1257300"/>
          </a:xfrm>
        </p:grpSpPr>
        <p:sp>
          <p:nvSpPr>
            <p:cNvPr id="49" name="object 14">
              <a:extLst>
                <a:ext uri="{FF2B5EF4-FFF2-40B4-BE49-F238E27FC236}">
                  <a16:creationId xmlns:a16="http://schemas.microsoft.com/office/drawing/2014/main" id="{EBA5CC89-C3A8-BB5F-34A6-0C59F769C956}"/>
                </a:ext>
              </a:extLst>
            </p:cNvPr>
            <p:cNvSpPr/>
            <p:nvPr/>
          </p:nvSpPr>
          <p:spPr>
            <a:xfrm>
              <a:off x="7081837" y="4286249"/>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a:p>
          </p:txBody>
        </p:sp>
        <p:sp>
          <p:nvSpPr>
            <p:cNvPr id="50" name="object 15">
              <a:extLst>
                <a:ext uri="{FF2B5EF4-FFF2-40B4-BE49-F238E27FC236}">
                  <a16:creationId xmlns:a16="http://schemas.microsoft.com/office/drawing/2014/main" id="{FD8F3B7C-ED45-5865-1E7C-E55837023881}"/>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grpSp>
        <p:nvGrpSpPr>
          <p:cNvPr id="51" name="object 13">
            <a:extLst>
              <a:ext uri="{FF2B5EF4-FFF2-40B4-BE49-F238E27FC236}">
                <a16:creationId xmlns:a16="http://schemas.microsoft.com/office/drawing/2014/main" id="{8D3D042B-0632-1BC1-2638-725C30A4B969}"/>
              </a:ext>
            </a:extLst>
          </p:cNvPr>
          <p:cNvGrpSpPr/>
          <p:nvPr/>
        </p:nvGrpSpPr>
        <p:grpSpPr>
          <a:xfrm>
            <a:off x="5649798" y="3235400"/>
            <a:ext cx="4829175" cy="729058"/>
            <a:chOff x="7058024" y="4286249"/>
            <a:chExt cx="4829175" cy="1257300"/>
          </a:xfrm>
        </p:grpSpPr>
        <p:sp>
          <p:nvSpPr>
            <p:cNvPr id="52" name="object 14">
              <a:extLst>
                <a:ext uri="{FF2B5EF4-FFF2-40B4-BE49-F238E27FC236}">
                  <a16:creationId xmlns:a16="http://schemas.microsoft.com/office/drawing/2014/main" id="{FD7DF28F-A7B7-828E-DA0A-F461F40C6A70}"/>
                </a:ext>
              </a:extLst>
            </p:cNvPr>
            <p:cNvSpPr/>
            <p:nvPr/>
          </p:nvSpPr>
          <p:spPr>
            <a:xfrm>
              <a:off x="7081837" y="4286249"/>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a:p>
          </p:txBody>
        </p:sp>
        <p:sp>
          <p:nvSpPr>
            <p:cNvPr id="53" name="object 15">
              <a:extLst>
                <a:ext uri="{FF2B5EF4-FFF2-40B4-BE49-F238E27FC236}">
                  <a16:creationId xmlns:a16="http://schemas.microsoft.com/office/drawing/2014/main" id="{EB77CF10-16C6-6C71-75DF-D499ACCEEA58}"/>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grpSp>
        <p:nvGrpSpPr>
          <p:cNvPr id="54" name="object 13">
            <a:extLst>
              <a:ext uri="{FF2B5EF4-FFF2-40B4-BE49-F238E27FC236}">
                <a16:creationId xmlns:a16="http://schemas.microsoft.com/office/drawing/2014/main" id="{A03A6691-2660-55B7-C86A-63FEB33BE58B}"/>
              </a:ext>
            </a:extLst>
          </p:cNvPr>
          <p:cNvGrpSpPr/>
          <p:nvPr/>
        </p:nvGrpSpPr>
        <p:grpSpPr>
          <a:xfrm>
            <a:off x="5649798" y="4101284"/>
            <a:ext cx="4829175" cy="729058"/>
            <a:chOff x="7058024" y="4286249"/>
            <a:chExt cx="4829175" cy="1257300"/>
          </a:xfrm>
        </p:grpSpPr>
        <p:sp>
          <p:nvSpPr>
            <p:cNvPr id="55" name="object 14">
              <a:extLst>
                <a:ext uri="{FF2B5EF4-FFF2-40B4-BE49-F238E27FC236}">
                  <a16:creationId xmlns:a16="http://schemas.microsoft.com/office/drawing/2014/main" id="{19A4F5A9-50A1-E2BF-83BF-42246CD4992B}"/>
                </a:ext>
              </a:extLst>
            </p:cNvPr>
            <p:cNvSpPr/>
            <p:nvPr/>
          </p:nvSpPr>
          <p:spPr>
            <a:xfrm>
              <a:off x="7081837" y="4286249"/>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a:p>
          </p:txBody>
        </p:sp>
        <p:sp>
          <p:nvSpPr>
            <p:cNvPr id="56" name="object 15">
              <a:extLst>
                <a:ext uri="{FF2B5EF4-FFF2-40B4-BE49-F238E27FC236}">
                  <a16:creationId xmlns:a16="http://schemas.microsoft.com/office/drawing/2014/main" id="{BAA997A1-35C5-DE83-7527-043EC0631227}"/>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grpSp>
        <p:nvGrpSpPr>
          <p:cNvPr id="57" name="object 13">
            <a:extLst>
              <a:ext uri="{FF2B5EF4-FFF2-40B4-BE49-F238E27FC236}">
                <a16:creationId xmlns:a16="http://schemas.microsoft.com/office/drawing/2014/main" id="{EDB9D62A-E0FC-D3DB-E483-2533C9FDA3A3}"/>
              </a:ext>
            </a:extLst>
          </p:cNvPr>
          <p:cNvGrpSpPr/>
          <p:nvPr/>
        </p:nvGrpSpPr>
        <p:grpSpPr>
          <a:xfrm>
            <a:off x="5638800" y="5823348"/>
            <a:ext cx="4829175" cy="729058"/>
            <a:chOff x="7058024" y="4286249"/>
            <a:chExt cx="4829175" cy="1257300"/>
          </a:xfrm>
        </p:grpSpPr>
        <p:sp>
          <p:nvSpPr>
            <p:cNvPr id="58" name="object 14">
              <a:extLst>
                <a:ext uri="{FF2B5EF4-FFF2-40B4-BE49-F238E27FC236}">
                  <a16:creationId xmlns:a16="http://schemas.microsoft.com/office/drawing/2014/main" id="{4E7DDE8F-6092-BF28-3932-C63BBB89BECA}"/>
                </a:ext>
              </a:extLst>
            </p:cNvPr>
            <p:cNvSpPr/>
            <p:nvPr/>
          </p:nvSpPr>
          <p:spPr>
            <a:xfrm>
              <a:off x="7081837" y="4286249"/>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a:p>
          </p:txBody>
        </p:sp>
        <p:sp>
          <p:nvSpPr>
            <p:cNvPr id="59" name="object 15">
              <a:extLst>
                <a:ext uri="{FF2B5EF4-FFF2-40B4-BE49-F238E27FC236}">
                  <a16:creationId xmlns:a16="http://schemas.microsoft.com/office/drawing/2014/main" id="{0AE43AA9-0E87-20DA-29A8-860DCFB4E594}"/>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grpSp>
        <p:nvGrpSpPr>
          <p:cNvPr id="60" name="object 13">
            <a:extLst>
              <a:ext uri="{FF2B5EF4-FFF2-40B4-BE49-F238E27FC236}">
                <a16:creationId xmlns:a16="http://schemas.microsoft.com/office/drawing/2014/main" id="{7433CA26-EFD3-34C4-AA1E-F41CB942CBDC}"/>
              </a:ext>
            </a:extLst>
          </p:cNvPr>
          <p:cNvGrpSpPr/>
          <p:nvPr/>
        </p:nvGrpSpPr>
        <p:grpSpPr>
          <a:xfrm>
            <a:off x="5638800" y="4967051"/>
            <a:ext cx="4829175" cy="729058"/>
            <a:chOff x="7058024" y="4286249"/>
            <a:chExt cx="4829175" cy="1257300"/>
          </a:xfrm>
        </p:grpSpPr>
        <p:sp>
          <p:nvSpPr>
            <p:cNvPr id="61" name="object 14">
              <a:extLst>
                <a:ext uri="{FF2B5EF4-FFF2-40B4-BE49-F238E27FC236}">
                  <a16:creationId xmlns:a16="http://schemas.microsoft.com/office/drawing/2014/main" id="{FE69A747-E2DB-2163-2394-D794ECF6A2C0}"/>
                </a:ext>
              </a:extLst>
            </p:cNvPr>
            <p:cNvSpPr/>
            <p:nvPr/>
          </p:nvSpPr>
          <p:spPr>
            <a:xfrm>
              <a:off x="7081837" y="4286249"/>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a:p>
          </p:txBody>
        </p:sp>
        <p:sp>
          <p:nvSpPr>
            <p:cNvPr id="62" name="object 15">
              <a:extLst>
                <a:ext uri="{FF2B5EF4-FFF2-40B4-BE49-F238E27FC236}">
                  <a16:creationId xmlns:a16="http://schemas.microsoft.com/office/drawing/2014/main" id="{5668B557-DB9A-D6A9-716F-902E0E94879D}"/>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sp>
        <p:nvSpPr>
          <p:cNvPr id="63" name="TextBox 62">
            <a:extLst>
              <a:ext uri="{FF2B5EF4-FFF2-40B4-BE49-F238E27FC236}">
                <a16:creationId xmlns:a16="http://schemas.microsoft.com/office/drawing/2014/main" id="{D8FD4D9E-F916-CDF2-EA9E-139AC49A6791}"/>
              </a:ext>
            </a:extLst>
          </p:cNvPr>
          <p:cNvSpPr txBox="1"/>
          <p:nvPr/>
        </p:nvSpPr>
        <p:spPr>
          <a:xfrm>
            <a:off x="411414" y="1503064"/>
            <a:ext cx="2438400" cy="369332"/>
          </a:xfrm>
          <a:prstGeom prst="rect">
            <a:avLst/>
          </a:prstGeom>
          <a:noFill/>
        </p:spPr>
        <p:txBody>
          <a:bodyPr wrap="square" rtlCol="0">
            <a:spAutoFit/>
          </a:bodyPr>
          <a:lstStyle/>
          <a:p>
            <a:r>
              <a:rPr lang="en-IN" b="1" dirty="0"/>
              <a:t>1. Project Overview</a:t>
            </a:r>
            <a:endParaRPr lang="en-IN" dirty="0"/>
          </a:p>
        </p:txBody>
      </p:sp>
      <p:sp>
        <p:nvSpPr>
          <p:cNvPr id="64" name="TextBox 63">
            <a:extLst>
              <a:ext uri="{FF2B5EF4-FFF2-40B4-BE49-F238E27FC236}">
                <a16:creationId xmlns:a16="http://schemas.microsoft.com/office/drawing/2014/main" id="{501E6F02-8760-2367-8CAF-5510DC4D315B}"/>
              </a:ext>
            </a:extLst>
          </p:cNvPr>
          <p:cNvSpPr txBox="1"/>
          <p:nvPr/>
        </p:nvSpPr>
        <p:spPr>
          <a:xfrm>
            <a:off x="390204" y="2387472"/>
            <a:ext cx="2438400" cy="369332"/>
          </a:xfrm>
          <a:prstGeom prst="rect">
            <a:avLst/>
          </a:prstGeom>
          <a:noFill/>
        </p:spPr>
        <p:txBody>
          <a:bodyPr wrap="square" rtlCol="0">
            <a:spAutoFit/>
          </a:bodyPr>
          <a:lstStyle/>
          <a:p>
            <a:r>
              <a:rPr lang="en-US" b="1" dirty="0"/>
              <a:t>2. A</a:t>
            </a:r>
            <a:r>
              <a:rPr lang="en-IN" b="1" dirty="0"/>
              <a:t>genda</a:t>
            </a:r>
            <a:endParaRPr lang="en-IN" dirty="0"/>
          </a:p>
        </p:txBody>
      </p:sp>
      <p:sp>
        <p:nvSpPr>
          <p:cNvPr id="65" name="TextBox 64">
            <a:extLst>
              <a:ext uri="{FF2B5EF4-FFF2-40B4-BE49-F238E27FC236}">
                <a16:creationId xmlns:a16="http://schemas.microsoft.com/office/drawing/2014/main" id="{7B1589CD-2645-7661-8C99-3315687DB39E}"/>
              </a:ext>
            </a:extLst>
          </p:cNvPr>
          <p:cNvSpPr txBox="1"/>
          <p:nvPr/>
        </p:nvSpPr>
        <p:spPr>
          <a:xfrm>
            <a:off x="400849" y="3149196"/>
            <a:ext cx="3491362" cy="646331"/>
          </a:xfrm>
          <a:prstGeom prst="rect">
            <a:avLst/>
          </a:prstGeom>
          <a:noFill/>
        </p:spPr>
        <p:txBody>
          <a:bodyPr wrap="square" rtlCol="0">
            <a:spAutoFit/>
          </a:bodyPr>
          <a:lstStyle/>
          <a:p>
            <a:r>
              <a:rPr lang="en-US" b="1" dirty="0"/>
              <a:t>3. KPI 1 – Order Distribution by Day Type</a:t>
            </a:r>
            <a:endParaRPr lang="en-IN" dirty="0"/>
          </a:p>
        </p:txBody>
      </p:sp>
      <p:sp>
        <p:nvSpPr>
          <p:cNvPr id="66" name="TextBox 65">
            <a:extLst>
              <a:ext uri="{FF2B5EF4-FFF2-40B4-BE49-F238E27FC236}">
                <a16:creationId xmlns:a16="http://schemas.microsoft.com/office/drawing/2014/main" id="{75D8C4A1-8E52-4D06-15E5-6D41CB732CA4}"/>
              </a:ext>
            </a:extLst>
          </p:cNvPr>
          <p:cNvSpPr txBox="1"/>
          <p:nvPr/>
        </p:nvSpPr>
        <p:spPr>
          <a:xfrm>
            <a:off x="427141" y="4019135"/>
            <a:ext cx="3491362" cy="646331"/>
          </a:xfrm>
          <a:prstGeom prst="rect">
            <a:avLst/>
          </a:prstGeom>
          <a:noFill/>
        </p:spPr>
        <p:txBody>
          <a:bodyPr wrap="square" rtlCol="0">
            <a:spAutoFit/>
          </a:bodyPr>
          <a:lstStyle/>
          <a:p>
            <a:pPr algn="l"/>
            <a:r>
              <a:rPr lang="fr-FR" b="1" dirty="0"/>
              <a:t>4. KPI 2 – 5-Star Orders by Payments Type </a:t>
            </a:r>
            <a:endParaRPr lang="en-IN" dirty="0"/>
          </a:p>
        </p:txBody>
      </p:sp>
      <p:sp>
        <p:nvSpPr>
          <p:cNvPr id="67" name="TextBox 66">
            <a:extLst>
              <a:ext uri="{FF2B5EF4-FFF2-40B4-BE49-F238E27FC236}">
                <a16:creationId xmlns:a16="http://schemas.microsoft.com/office/drawing/2014/main" id="{8123C3FC-00B8-5B82-D24C-5D0089776742}"/>
              </a:ext>
            </a:extLst>
          </p:cNvPr>
          <p:cNvSpPr txBox="1"/>
          <p:nvPr/>
        </p:nvSpPr>
        <p:spPr>
          <a:xfrm>
            <a:off x="400416" y="4831817"/>
            <a:ext cx="4289173" cy="646331"/>
          </a:xfrm>
          <a:prstGeom prst="rect">
            <a:avLst/>
          </a:prstGeom>
          <a:noFill/>
        </p:spPr>
        <p:txBody>
          <a:bodyPr wrap="square" rtlCol="0">
            <a:spAutoFit/>
          </a:bodyPr>
          <a:lstStyle/>
          <a:p>
            <a:r>
              <a:rPr lang="en-US" b="1" dirty="0"/>
              <a:t>5. KPI 3 – Average Delivery Time for Pet shop Product</a:t>
            </a:r>
            <a:endParaRPr lang="en-IN" dirty="0"/>
          </a:p>
        </p:txBody>
      </p:sp>
      <p:sp>
        <p:nvSpPr>
          <p:cNvPr id="68" name="TextBox 67">
            <a:extLst>
              <a:ext uri="{FF2B5EF4-FFF2-40B4-BE49-F238E27FC236}">
                <a16:creationId xmlns:a16="http://schemas.microsoft.com/office/drawing/2014/main" id="{15951ED4-EA14-402D-37D7-B56DC6D8326C}"/>
              </a:ext>
            </a:extLst>
          </p:cNvPr>
          <p:cNvSpPr txBox="1"/>
          <p:nvPr/>
        </p:nvSpPr>
        <p:spPr>
          <a:xfrm>
            <a:off x="411414" y="5732237"/>
            <a:ext cx="4300170" cy="646331"/>
          </a:xfrm>
          <a:prstGeom prst="rect">
            <a:avLst/>
          </a:prstGeom>
          <a:noFill/>
        </p:spPr>
        <p:txBody>
          <a:bodyPr wrap="square" rtlCol="0">
            <a:spAutoFit/>
          </a:bodyPr>
          <a:lstStyle/>
          <a:p>
            <a:r>
              <a:rPr lang="en-IN" b="1" dirty="0"/>
              <a:t>6. KPI 4 – Average Order Price vs Payment value for Sao Paulo </a:t>
            </a:r>
            <a:endParaRPr lang="en-IN" dirty="0"/>
          </a:p>
        </p:txBody>
      </p:sp>
      <p:sp>
        <p:nvSpPr>
          <p:cNvPr id="69" name="TextBox 68">
            <a:extLst>
              <a:ext uri="{FF2B5EF4-FFF2-40B4-BE49-F238E27FC236}">
                <a16:creationId xmlns:a16="http://schemas.microsoft.com/office/drawing/2014/main" id="{EC30C4DC-765F-4E69-2CA0-25A55135A560}"/>
              </a:ext>
            </a:extLst>
          </p:cNvPr>
          <p:cNvSpPr txBox="1"/>
          <p:nvPr/>
        </p:nvSpPr>
        <p:spPr>
          <a:xfrm>
            <a:off x="5739179" y="1683203"/>
            <a:ext cx="4300170" cy="369332"/>
          </a:xfrm>
          <a:prstGeom prst="rect">
            <a:avLst/>
          </a:prstGeom>
          <a:noFill/>
        </p:spPr>
        <p:txBody>
          <a:bodyPr wrap="square" rtlCol="0">
            <a:spAutoFit/>
          </a:bodyPr>
          <a:lstStyle/>
          <a:p>
            <a:r>
              <a:rPr lang="en-IN" b="1" dirty="0"/>
              <a:t>8. Power BI Dashboard Overview</a:t>
            </a:r>
            <a:endParaRPr lang="en-IN" dirty="0"/>
          </a:p>
        </p:txBody>
      </p:sp>
      <p:sp>
        <p:nvSpPr>
          <p:cNvPr id="70" name="TextBox 69">
            <a:extLst>
              <a:ext uri="{FF2B5EF4-FFF2-40B4-BE49-F238E27FC236}">
                <a16:creationId xmlns:a16="http://schemas.microsoft.com/office/drawing/2014/main" id="{22C367B4-AAB8-B6F9-D673-266DC4EE259D}"/>
              </a:ext>
            </a:extLst>
          </p:cNvPr>
          <p:cNvSpPr txBox="1"/>
          <p:nvPr/>
        </p:nvSpPr>
        <p:spPr>
          <a:xfrm>
            <a:off x="5768991" y="2549262"/>
            <a:ext cx="4300170" cy="369332"/>
          </a:xfrm>
          <a:prstGeom prst="rect">
            <a:avLst/>
          </a:prstGeom>
          <a:noFill/>
        </p:spPr>
        <p:txBody>
          <a:bodyPr wrap="square" rtlCol="0">
            <a:spAutoFit/>
          </a:bodyPr>
          <a:lstStyle/>
          <a:p>
            <a:r>
              <a:rPr lang="en-IN" b="1" dirty="0"/>
              <a:t>9. SQL Queries Used</a:t>
            </a:r>
            <a:endParaRPr lang="en-IN" dirty="0"/>
          </a:p>
        </p:txBody>
      </p:sp>
      <p:sp>
        <p:nvSpPr>
          <p:cNvPr id="71" name="TextBox 70">
            <a:extLst>
              <a:ext uri="{FF2B5EF4-FFF2-40B4-BE49-F238E27FC236}">
                <a16:creationId xmlns:a16="http://schemas.microsoft.com/office/drawing/2014/main" id="{2F23C292-5376-2E0C-2A78-342003643819}"/>
              </a:ext>
            </a:extLst>
          </p:cNvPr>
          <p:cNvSpPr txBox="1"/>
          <p:nvPr/>
        </p:nvSpPr>
        <p:spPr>
          <a:xfrm>
            <a:off x="5715000" y="3410145"/>
            <a:ext cx="4300170" cy="369332"/>
          </a:xfrm>
          <a:prstGeom prst="rect">
            <a:avLst/>
          </a:prstGeom>
          <a:noFill/>
        </p:spPr>
        <p:txBody>
          <a:bodyPr wrap="square" rtlCol="0">
            <a:spAutoFit/>
          </a:bodyPr>
          <a:lstStyle/>
          <a:p>
            <a:r>
              <a:rPr lang="en-IN" b="1" dirty="0"/>
              <a:t>10. Tableau Dashboard Overview</a:t>
            </a:r>
            <a:endParaRPr lang="en-IN" dirty="0"/>
          </a:p>
        </p:txBody>
      </p:sp>
      <p:sp>
        <p:nvSpPr>
          <p:cNvPr id="72" name="TextBox 71">
            <a:extLst>
              <a:ext uri="{FF2B5EF4-FFF2-40B4-BE49-F238E27FC236}">
                <a16:creationId xmlns:a16="http://schemas.microsoft.com/office/drawing/2014/main" id="{5C7C5A03-EFB1-4B0F-DB37-59D2502C3670}"/>
              </a:ext>
            </a:extLst>
          </p:cNvPr>
          <p:cNvSpPr txBox="1"/>
          <p:nvPr/>
        </p:nvSpPr>
        <p:spPr>
          <a:xfrm>
            <a:off x="5758230" y="4271755"/>
            <a:ext cx="4300170" cy="369332"/>
          </a:xfrm>
          <a:prstGeom prst="rect">
            <a:avLst/>
          </a:prstGeom>
          <a:noFill/>
        </p:spPr>
        <p:txBody>
          <a:bodyPr wrap="square" rtlCol="0">
            <a:spAutoFit/>
          </a:bodyPr>
          <a:lstStyle/>
          <a:p>
            <a:r>
              <a:rPr lang="en-IN" b="1" dirty="0"/>
              <a:t>11. Excel Dashboard Overview</a:t>
            </a:r>
            <a:endParaRPr lang="en-IN" dirty="0"/>
          </a:p>
        </p:txBody>
      </p:sp>
      <p:sp>
        <p:nvSpPr>
          <p:cNvPr id="73" name="TextBox 72">
            <a:extLst>
              <a:ext uri="{FF2B5EF4-FFF2-40B4-BE49-F238E27FC236}">
                <a16:creationId xmlns:a16="http://schemas.microsoft.com/office/drawing/2014/main" id="{A63FB602-BB6E-D53C-B41B-02F43596E7A3}"/>
              </a:ext>
            </a:extLst>
          </p:cNvPr>
          <p:cNvSpPr txBox="1"/>
          <p:nvPr/>
        </p:nvSpPr>
        <p:spPr>
          <a:xfrm>
            <a:off x="5722188" y="5008414"/>
            <a:ext cx="4967993" cy="646331"/>
          </a:xfrm>
          <a:prstGeom prst="rect">
            <a:avLst/>
          </a:prstGeom>
          <a:noFill/>
        </p:spPr>
        <p:txBody>
          <a:bodyPr wrap="square" rtlCol="0">
            <a:spAutoFit/>
          </a:bodyPr>
          <a:lstStyle/>
          <a:p>
            <a:r>
              <a:rPr lang="en-IN" b="1" dirty="0"/>
              <a:t>12. Business Conclusions &amp;                    Recommendations</a:t>
            </a:r>
            <a:endParaRPr lang="en-IN" dirty="0"/>
          </a:p>
        </p:txBody>
      </p:sp>
      <p:sp>
        <p:nvSpPr>
          <p:cNvPr id="74" name="TextBox 73">
            <a:extLst>
              <a:ext uri="{FF2B5EF4-FFF2-40B4-BE49-F238E27FC236}">
                <a16:creationId xmlns:a16="http://schemas.microsoft.com/office/drawing/2014/main" id="{A6DB2A85-A77D-4B00-4D4A-D171FC3DEAC7}"/>
              </a:ext>
            </a:extLst>
          </p:cNvPr>
          <p:cNvSpPr txBox="1"/>
          <p:nvPr/>
        </p:nvSpPr>
        <p:spPr>
          <a:xfrm>
            <a:off x="5735003" y="5823231"/>
            <a:ext cx="4300170" cy="646331"/>
          </a:xfrm>
          <a:prstGeom prst="rect">
            <a:avLst/>
          </a:prstGeom>
          <a:noFill/>
        </p:spPr>
        <p:txBody>
          <a:bodyPr wrap="square" rtlCol="0">
            <a:spAutoFit/>
          </a:bodyPr>
          <a:lstStyle/>
          <a:p>
            <a:r>
              <a:rPr lang="en-US" b="1" dirty="0"/>
              <a:t>13. Challenges Faced &amp; How We Overcame Them</a:t>
            </a:r>
            <a:endParaRPr lang="en-IN" dirty="0"/>
          </a:p>
        </p:txBody>
      </p:sp>
      <p:sp>
        <p:nvSpPr>
          <p:cNvPr id="75" name="object 22">
            <a:extLst>
              <a:ext uri="{FF2B5EF4-FFF2-40B4-BE49-F238E27FC236}">
                <a16:creationId xmlns:a16="http://schemas.microsoft.com/office/drawing/2014/main" id="{DA530838-E094-024E-422B-D76C833E7C08}"/>
              </a:ext>
            </a:extLst>
          </p:cNvPr>
          <p:cNvSpPr txBox="1">
            <a:spLocks noGrp="1"/>
          </p:cNvSpPr>
          <p:nvPr>
            <p:ph type="dt" sz="half" idx="6"/>
          </p:nvPr>
        </p:nvSpPr>
        <p:spPr>
          <a:xfrm>
            <a:off x="10106868" y="6552406"/>
            <a:ext cx="1793240" cy="184666"/>
          </a:xfrm>
          <a:prstGeom prst="rect">
            <a:avLst/>
          </a:prstGeom>
        </p:spPr>
        <p:txBody>
          <a:bodyPr vert="horz" wrap="square" lIns="0" tIns="22860" rIns="0" bIns="0" rtlCol="0">
            <a:spAutoFit/>
          </a:bodyPr>
          <a:lstStyle/>
          <a:p>
            <a:r>
              <a:rPr lang="en-IN" dirty="0">
                <a:effectLst/>
              </a:rPr>
              <a:t>Olist Store Analysis</a:t>
            </a:r>
          </a:p>
        </p:txBody>
      </p:sp>
      <p:grpSp>
        <p:nvGrpSpPr>
          <p:cNvPr id="5" name="object 13">
            <a:extLst>
              <a:ext uri="{FF2B5EF4-FFF2-40B4-BE49-F238E27FC236}">
                <a16:creationId xmlns:a16="http://schemas.microsoft.com/office/drawing/2014/main" id="{88240B46-33C7-6DC7-9116-73B2BDE16C0F}"/>
              </a:ext>
            </a:extLst>
          </p:cNvPr>
          <p:cNvGrpSpPr/>
          <p:nvPr/>
        </p:nvGrpSpPr>
        <p:grpSpPr>
          <a:xfrm>
            <a:off x="5610225" y="685006"/>
            <a:ext cx="4829175" cy="729058"/>
            <a:chOff x="7058024" y="4286249"/>
            <a:chExt cx="4829175" cy="1257300"/>
          </a:xfrm>
        </p:grpSpPr>
        <p:sp>
          <p:nvSpPr>
            <p:cNvPr id="8" name="object 14">
              <a:extLst>
                <a:ext uri="{FF2B5EF4-FFF2-40B4-BE49-F238E27FC236}">
                  <a16:creationId xmlns:a16="http://schemas.microsoft.com/office/drawing/2014/main" id="{A28B81DB-BAD6-7DCD-8B6F-25E523580F03}"/>
                </a:ext>
              </a:extLst>
            </p:cNvPr>
            <p:cNvSpPr/>
            <p:nvPr/>
          </p:nvSpPr>
          <p:spPr>
            <a:xfrm>
              <a:off x="7081837" y="4286249"/>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a:p>
          </p:txBody>
        </p:sp>
        <p:sp>
          <p:nvSpPr>
            <p:cNvPr id="9" name="object 15">
              <a:extLst>
                <a:ext uri="{FF2B5EF4-FFF2-40B4-BE49-F238E27FC236}">
                  <a16:creationId xmlns:a16="http://schemas.microsoft.com/office/drawing/2014/main" id="{8EB586CD-69CB-B660-28DA-5CFF406CA4FB}"/>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sp>
        <p:nvSpPr>
          <p:cNvPr id="10" name="TextBox 9">
            <a:extLst>
              <a:ext uri="{FF2B5EF4-FFF2-40B4-BE49-F238E27FC236}">
                <a16:creationId xmlns:a16="http://schemas.microsoft.com/office/drawing/2014/main" id="{F7875488-70E3-3DE6-47F0-628CCC711215}"/>
              </a:ext>
            </a:extLst>
          </p:cNvPr>
          <p:cNvSpPr txBox="1"/>
          <p:nvPr/>
        </p:nvSpPr>
        <p:spPr>
          <a:xfrm>
            <a:off x="5710604" y="761206"/>
            <a:ext cx="4300170" cy="646331"/>
          </a:xfrm>
          <a:prstGeom prst="rect">
            <a:avLst/>
          </a:prstGeom>
          <a:noFill/>
        </p:spPr>
        <p:txBody>
          <a:bodyPr wrap="square" rtlCol="0">
            <a:spAutoFit/>
          </a:bodyPr>
          <a:lstStyle/>
          <a:p>
            <a:r>
              <a:rPr lang="en-IN" b="1" dirty="0"/>
              <a:t>7. KPI 5 – Impact of Delivery Time on Customer Review Scores</a:t>
            </a:r>
            <a:endParaRPr lang="en-IN" dirty="0"/>
          </a:p>
        </p:txBody>
      </p:sp>
    </p:spTree>
    <p:extLst>
      <p:ext uri="{BB962C8B-B14F-4D97-AF65-F5344CB8AC3E}">
        <p14:creationId xmlns:p14="http://schemas.microsoft.com/office/powerpoint/2010/main" val="28591717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8E5D7C-A1C0-541E-86EB-0388A3181A03}"/>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36F6EA7B-6A66-C0CD-EC2B-71536A101903}"/>
              </a:ext>
            </a:extLst>
          </p:cNvPr>
          <p:cNvSpPr txBox="1">
            <a:spLocks noGrp="1"/>
          </p:cNvSpPr>
          <p:nvPr>
            <p:ph type="title"/>
          </p:nvPr>
        </p:nvSpPr>
        <p:spPr>
          <a:xfrm>
            <a:off x="339024" y="380206"/>
            <a:ext cx="5147376" cy="843821"/>
          </a:xfrm>
          <a:prstGeom prst="rect">
            <a:avLst/>
          </a:prstGeom>
        </p:spPr>
        <p:txBody>
          <a:bodyPr vert="horz" wrap="square" lIns="0" tIns="12700" rIns="0" bIns="0" rtlCol="0">
            <a:spAutoFit/>
          </a:bodyPr>
          <a:lstStyle/>
          <a:p>
            <a:r>
              <a:rPr lang="en-US" dirty="0"/>
              <a:t>KPI 1 – Order Distribution by Day Type</a:t>
            </a:r>
          </a:p>
        </p:txBody>
      </p:sp>
      <p:sp>
        <p:nvSpPr>
          <p:cNvPr id="14" name="object 22">
            <a:extLst>
              <a:ext uri="{FF2B5EF4-FFF2-40B4-BE49-F238E27FC236}">
                <a16:creationId xmlns:a16="http://schemas.microsoft.com/office/drawing/2014/main" id="{D84C48DB-9B75-A349-9FA0-35E52A05BBB8}"/>
              </a:ext>
            </a:extLst>
          </p:cNvPr>
          <p:cNvSpPr txBox="1">
            <a:spLocks noGrp="1"/>
          </p:cNvSpPr>
          <p:nvPr>
            <p:ph type="dt" sz="half" idx="6"/>
          </p:nvPr>
        </p:nvSpPr>
        <p:spPr>
          <a:xfrm>
            <a:off x="10106868" y="6501376"/>
            <a:ext cx="1793240" cy="184666"/>
          </a:xfrm>
          <a:prstGeom prst="rect">
            <a:avLst/>
          </a:prstGeom>
        </p:spPr>
        <p:txBody>
          <a:bodyPr vert="horz" wrap="square" lIns="0" tIns="22860" rIns="0" bIns="0" rtlCol="0">
            <a:spAutoFit/>
          </a:bodyPr>
          <a:lstStyle/>
          <a:p>
            <a:pPr marL="12700">
              <a:lnSpc>
                <a:spcPct val="100000"/>
              </a:lnSpc>
              <a:spcBef>
                <a:spcPts val="180"/>
              </a:spcBef>
            </a:pPr>
            <a:r>
              <a:rPr lang="en-US" spc="-10" dirty="0"/>
              <a:t>Olist Store Analysis</a:t>
            </a:r>
          </a:p>
        </p:txBody>
      </p:sp>
      <p:grpSp>
        <p:nvGrpSpPr>
          <p:cNvPr id="13" name="object 13">
            <a:extLst>
              <a:ext uri="{FF2B5EF4-FFF2-40B4-BE49-F238E27FC236}">
                <a16:creationId xmlns:a16="http://schemas.microsoft.com/office/drawing/2014/main" id="{A4039ECC-44C4-F8D8-E82C-AAA8CB95E78C}"/>
              </a:ext>
            </a:extLst>
          </p:cNvPr>
          <p:cNvGrpSpPr/>
          <p:nvPr/>
        </p:nvGrpSpPr>
        <p:grpSpPr>
          <a:xfrm>
            <a:off x="6701790" y="1678664"/>
            <a:ext cx="5033010" cy="2455656"/>
            <a:chOff x="7058024" y="4286251"/>
            <a:chExt cx="4829493" cy="1257499"/>
          </a:xfrm>
        </p:grpSpPr>
        <p:sp>
          <p:nvSpPr>
            <p:cNvPr id="15" name="object 14">
              <a:extLst>
                <a:ext uri="{FF2B5EF4-FFF2-40B4-BE49-F238E27FC236}">
                  <a16:creationId xmlns:a16="http://schemas.microsoft.com/office/drawing/2014/main" id="{F230276C-3F27-36D5-26FA-C5D6150AF3FC}"/>
                </a:ext>
              </a:extLst>
            </p:cNvPr>
            <p:cNvSpPr/>
            <p:nvPr/>
          </p:nvSpPr>
          <p:spPr>
            <a:xfrm>
              <a:off x="7081837" y="4286251"/>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dirty="0"/>
            </a:p>
          </p:txBody>
        </p:sp>
        <p:sp>
          <p:nvSpPr>
            <p:cNvPr id="16" name="object 15">
              <a:extLst>
                <a:ext uri="{FF2B5EF4-FFF2-40B4-BE49-F238E27FC236}">
                  <a16:creationId xmlns:a16="http://schemas.microsoft.com/office/drawing/2014/main" id="{A5661017-ED5A-53CB-FAFA-68C9F0B450AE}"/>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sp>
        <p:nvSpPr>
          <p:cNvPr id="17" name="TextBox 16">
            <a:extLst>
              <a:ext uri="{FF2B5EF4-FFF2-40B4-BE49-F238E27FC236}">
                <a16:creationId xmlns:a16="http://schemas.microsoft.com/office/drawing/2014/main" id="{DCD6A231-8014-D0D1-70CD-A106E5F4C3C2}"/>
              </a:ext>
            </a:extLst>
          </p:cNvPr>
          <p:cNvSpPr txBox="1"/>
          <p:nvPr/>
        </p:nvSpPr>
        <p:spPr>
          <a:xfrm>
            <a:off x="6941026" y="1831064"/>
            <a:ext cx="4530403" cy="1877437"/>
          </a:xfrm>
          <a:prstGeom prst="rect">
            <a:avLst/>
          </a:prstGeom>
          <a:noFill/>
        </p:spPr>
        <p:txBody>
          <a:bodyPr wrap="square" rtlCol="0">
            <a:spAutoFit/>
          </a:bodyPr>
          <a:lstStyle/>
          <a:p>
            <a:pPr algn="just"/>
            <a:r>
              <a:rPr lang="en-US" sz="1600" b="1" dirty="0"/>
              <a:t>Key Observations</a:t>
            </a:r>
          </a:p>
          <a:p>
            <a:pPr algn="just"/>
            <a:endParaRPr lang="en-US" sz="1600" b="1" dirty="0"/>
          </a:p>
          <a:p>
            <a:pPr marL="285750" indent="-285750" algn="just">
              <a:buFont typeface="Arial" panose="020B0604020202020204" pitchFamily="34" charset="0"/>
              <a:buChar char="•"/>
            </a:pPr>
            <a:r>
              <a:rPr lang="en-US" sz="1400" dirty="0">
                <a:latin typeface="Arial" panose="020B0604020202020204" pitchFamily="34" charset="0"/>
                <a:cs typeface="Arial" panose="020B0604020202020204" pitchFamily="34" charset="0"/>
              </a:rPr>
              <a:t>A significantly higher number of orders are placed on weekdays compared to weekends.</a:t>
            </a:r>
          </a:p>
          <a:p>
            <a:pPr marL="285750" indent="-285750" algn="just">
              <a:buFont typeface="Arial" panose="020B0604020202020204" pitchFamily="34" charset="0"/>
              <a:buChar char="•"/>
            </a:pPr>
            <a:r>
              <a:rPr lang="en-US" sz="1400" dirty="0">
                <a:latin typeface="Arial" panose="020B0604020202020204" pitchFamily="34" charset="0"/>
                <a:cs typeface="Arial" panose="020B0604020202020204" pitchFamily="34" charset="0"/>
              </a:rPr>
              <a:t>Weekend orders represent a smaller share of total purchases.</a:t>
            </a:r>
          </a:p>
          <a:p>
            <a:pPr marL="285750" indent="-285750" algn="just">
              <a:buFont typeface="Arial" panose="020B0604020202020204" pitchFamily="34" charset="0"/>
              <a:buChar char="•"/>
            </a:pPr>
            <a:r>
              <a:rPr lang="en-US" sz="1400" dirty="0">
                <a:latin typeface="Arial" panose="020B0604020202020204" pitchFamily="34" charset="0"/>
                <a:cs typeface="Arial" panose="020B0604020202020204" pitchFamily="34" charset="0"/>
              </a:rPr>
              <a:t>Customer purchasing activity is concentrated during regular working days</a:t>
            </a:r>
            <a:endParaRPr lang="en-IN" sz="1400" dirty="0">
              <a:latin typeface="Arial" panose="020B0604020202020204" pitchFamily="34" charset="0"/>
              <a:cs typeface="Arial" panose="020B0604020202020204" pitchFamily="34" charset="0"/>
            </a:endParaRPr>
          </a:p>
        </p:txBody>
      </p:sp>
      <p:grpSp>
        <p:nvGrpSpPr>
          <p:cNvPr id="18" name="object 13">
            <a:extLst>
              <a:ext uri="{FF2B5EF4-FFF2-40B4-BE49-F238E27FC236}">
                <a16:creationId xmlns:a16="http://schemas.microsoft.com/office/drawing/2014/main" id="{73F5C49D-659E-3F3E-B0FD-EE1271FC3041}"/>
              </a:ext>
            </a:extLst>
          </p:cNvPr>
          <p:cNvGrpSpPr/>
          <p:nvPr/>
        </p:nvGrpSpPr>
        <p:grpSpPr>
          <a:xfrm>
            <a:off x="6701791" y="4243733"/>
            <a:ext cx="5033009" cy="1231106"/>
            <a:chOff x="7058024" y="4286251"/>
            <a:chExt cx="4829493" cy="1257499"/>
          </a:xfrm>
        </p:grpSpPr>
        <p:sp>
          <p:nvSpPr>
            <p:cNvPr id="19" name="object 14">
              <a:extLst>
                <a:ext uri="{FF2B5EF4-FFF2-40B4-BE49-F238E27FC236}">
                  <a16:creationId xmlns:a16="http://schemas.microsoft.com/office/drawing/2014/main" id="{FE31C285-1889-4364-6DE1-1AEA1B8EC06D}"/>
                </a:ext>
              </a:extLst>
            </p:cNvPr>
            <p:cNvSpPr/>
            <p:nvPr/>
          </p:nvSpPr>
          <p:spPr>
            <a:xfrm>
              <a:off x="7081837" y="4286251"/>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dirty="0"/>
            </a:p>
          </p:txBody>
        </p:sp>
        <p:sp>
          <p:nvSpPr>
            <p:cNvPr id="20" name="object 15">
              <a:extLst>
                <a:ext uri="{FF2B5EF4-FFF2-40B4-BE49-F238E27FC236}">
                  <a16:creationId xmlns:a16="http://schemas.microsoft.com/office/drawing/2014/main" id="{31561105-95D8-12AF-E47A-6386ECFC8178}"/>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sp>
        <p:nvSpPr>
          <p:cNvPr id="21" name="TextBox 20">
            <a:extLst>
              <a:ext uri="{FF2B5EF4-FFF2-40B4-BE49-F238E27FC236}">
                <a16:creationId xmlns:a16="http://schemas.microsoft.com/office/drawing/2014/main" id="{5B06D0A3-7FF3-0ED0-03F4-20B8A3736D2B}"/>
              </a:ext>
            </a:extLst>
          </p:cNvPr>
          <p:cNvSpPr txBox="1"/>
          <p:nvPr/>
        </p:nvSpPr>
        <p:spPr>
          <a:xfrm>
            <a:off x="6941026" y="4266406"/>
            <a:ext cx="4488974" cy="1169551"/>
          </a:xfrm>
          <a:prstGeom prst="rect">
            <a:avLst/>
          </a:prstGeom>
          <a:noFill/>
        </p:spPr>
        <p:txBody>
          <a:bodyPr wrap="square" rtlCol="0">
            <a:spAutoFit/>
          </a:bodyPr>
          <a:lstStyle/>
          <a:p>
            <a:pPr algn="just"/>
            <a:r>
              <a:rPr lang="en-US" sz="1400" b="1" cap="all" dirty="0"/>
              <a:t>Business Insight</a:t>
            </a:r>
          </a:p>
          <a:p>
            <a:pPr algn="just"/>
            <a:r>
              <a:rPr lang="en-US" sz="1400" dirty="0">
                <a:latin typeface="Arial" panose="020B0604020202020204" pitchFamily="34" charset="0"/>
                <a:cs typeface="Arial" panose="020B0604020202020204" pitchFamily="34" charset="0"/>
              </a:rPr>
              <a:t>Businesses can increase weekend sales by introducing weekend promotions, discounts, or limited-time offers to encourage more purchases during low-activity periods.</a:t>
            </a:r>
            <a:endParaRPr lang="en-IN"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EF8127A9-F38E-423B-489F-6A4A364E9CA7}"/>
              </a:ext>
            </a:extLst>
          </p:cNvPr>
          <p:cNvPicPr>
            <a:picLocks noChangeAspect="1"/>
          </p:cNvPicPr>
          <p:nvPr/>
        </p:nvPicPr>
        <p:blipFill>
          <a:blip r:embed="rId3"/>
          <a:srcRect t="2336" r="1222"/>
          <a:stretch>
            <a:fillRect/>
          </a:stretch>
        </p:blipFill>
        <p:spPr>
          <a:xfrm>
            <a:off x="290175" y="1678664"/>
            <a:ext cx="6097620" cy="3795980"/>
          </a:xfrm>
          <a:prstGeom prst="rect">
            <a:avLst/>
          </a:prstGeom>
        </p:spPr>
      </p:pic>
    </p:spTree>
    <p:extLst>
      <p:ext uri="{BB962C8B-B14F-4D97-AF65-F5344CB8AC3E}">
        <p14:creationId xmlns:p14="http://schemas.microsoft.com/office/powerpoint/2010/main" val="26605862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8A4DA1-E735-2E09-DD7A-3173D608759A}"/>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E7A1694F-C7DD-D6D1-3738-75DB99C59E4B}"/>
              </a:ext>
            </a:extLst>
          </p:cNvPr>
          <p:cNvSpPr txBox="1">
            <a:spLocks noGrp="1"/>
          </p:cNvSpPr>
          <p:nvPr>
            <p:ph type="title"/>
          </p:nvPr>
        </p:nvSpPr>
        <p:spPr>
          <a:xfrm>
            <a:off x="339024" y="380206"/>
            <a:ext cx="5147376" cy="843821"/>
          </a:xfrm>
          <a:prstGeom prst="rect">
            <a:avLst/>
          </a:prstGeom>
        </p:spPr>
        <p:txBody>
          <a:bodyPr vert="horz" wrap="square" lIns="0" tIns="12700" rIns="0" bIns="0" rtlCol="0">
            <a:spAutoFit/>
          </a:bodyPr>
          <a:lstStyle/>
          <a:p>
            <a:r>
              <a:rPr lang="en-US" dirty="0"/>
              <a:t>KPI 2 – </a:t>
            </a:r>
            <a:r>
              <a:rPr lang="fr-FR" dirty="0"/>
              <a:t>5-Star Orders by Payments Type </a:t>
            </a:r>
            <a:endParaRPr lang="en-US" dirty="0"/>
          </a:p>
        </p:txBody>
      </p:sp>
      <p:sp>
        <p:nvSpPr>
          <p:cNvPr id="14" name="object 22">
            <a:extLst>
              <a:ext uri="{FF2B5EF4-FFF2-40B4-BE49-F238E27FC236}">
                <a16:creationId xmlns:a16="http://schemas.microsoft.com/office/drawing/2014/main" id="{1B33E12A-6371-DF48-90AE-AEFF20766694}"/>
              </a:ext>
            </a:extLst>
          </p:cNvPr>
          <p:cNvSpPr txBox="1">
            <a:spLocks noGrp="1"/>
          </p:cNvSpPr>
          <p:nvPr>
            <p:ph type="dt" sz="half" idx="6"/>
          </p:nvPr>
        </p:nvSpPr>
        <p:spPr>
          <a:xfrm>
            <a:off x="10106868" y="6501376"/>
            <a:ext cx="1793240" cy="184666"/>
          </a:xfrm>
          <a:prstGeom prst="rect">
            <a:avLst/>
          </a:prstGeom>
        </p:spPr>
        <p:txBody>
          <a:bodyPr vert="horz" wrap="square" lIns="0" tIns="22860" rIns="0" bIns="0" rtlCol="0">
            <a:spAutoFit/>
          </a:bodyPr>
          <a:lstStyle/>
          <a:p>
            <a:pPr marL="12700">
              <a:lnSpc>
                <a:spcPct val="100000"/>
              </a:lnSpc>
              <a:spcBef>
                <a:spcPts val="180"/>
              </a:spcBef>
            </a:pPr>
            <a:r>
              <a:rPr lang="en-US" spc="-10" dirty="0"/>
              <a:t>Olist Store Analysis</a:t>
            </a:r>
          </a:p>
        </p:txBody>
      </p:sp>
      <p:grpSp>
        <p:nvGrpSpPr>
          <p:cNvPr id="13" name="object 13">
            <a:extLst>
              <a:ext uri="{FF2B5EF4-FFF2-40B4-BE49-F238E27FC236}">
                <a16:creationId xmlns:a16="http://schemas.microsoft.com/office/drawing/2014/main" id="{BF16135F-5CF6-2B71-D3C6-36466B6F5D1E}"/>
              </a:ext>
            </a:extLst>
          </p:cNvPr>
          <p:cNvGrpSpPr/>
          <p:nvPr/>
        </p:nvGrpSpPr>
        <p:grpSpPr>
          <a:xfrm>
            <a:off x="6701790" y="1678664"/>
            <a:ext cx="5033010" cy="2455656"/>
            <a:chOff x="7058024" y="4286251"/>
            <a:chExt cx="4829493" cy="1257499"/>
          </a:xfrm>
        </p:grpSpPr>
        <p:sp>
          <p:nvSpPr>
            <p:cNvPr id="15" name="object 14">
              <a:extLst>
                <a:ext uri="{FF2B5EF4-FFF2-40B4-BE49-F238E27FC236}">
                  <a16:creationId xmlns:a16="http://schemas.microsoft.com/office/drawing/2014/main" id="{40BC4515-D3D2-0052-8953-9A292A11FED9}"/>
                </a:ext>
              </a:extLst>
            </p:cNvPr>
            <p:cNvSpPr/>
            <p:nvPr/>
          </p:nvSpPr>
          <p:spPr>
            <a:xfrm>
              <a:off x="7081837" y="4286251"/>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dirty="0"/>
            </a:p>
          </p:txBody>
        </p:sp>
        <p:sp>
          <p:nvSpPr>
            <p:cNvPr id="16" name="object 15">
              <a:extLst>
                <a:ext uri="{FF2B5EF4-FFF2-40B4-BE49-F238E27FC236}">
                  <a16:creationId xmlns:a16="http://schemas.microsoft.com/office/drawing/2014/main" id="{CA180A09-C1C6-3B2A-774A-FADCDB5ED6A7}"/>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sp>
        <p:nvSpPr>
          <p:cNvPr id="17" name="TextBox 16">
            <a:extLst>
              <a:ext uri="{FF2B5EF4-FFF2-40B4-BE49-F238E27FC236}">
                <a16:creationId xmlns:a16="http://schemas.microsoft.com/office/drawing/2014/main" id="{92504DC4-1768-FB50-2AAF-AA530F4A4974}"/>
              </a:ext>
            </a:extLst>
          </p:cNvPr>
          <p:cNvSpPr txBox="1"/>
          <p:nvPr/>
        </p:nvSpPr>
        <p:spPr>
          <a:xfrm>
            <a:off x="6941026" y="1831064"/>
            <a:ext cx="4530403" cy="2092881"/>
          </a:xfrm>
          <a:prstGeom prst="rect">
            <a:avLst/>
          </a:prstGeom>
          <a:noFill/>
        </p:spPr>
        <p:txBody>
          <a:bodyPr wrap="square" rtlCol="0">
            <a:spAutoFit/>
          </a:bodyPr>
          <a:lstStyle/>
          <a:p>
            <a:pPr algn="just"/>
            <a:r>
              <a:rPr lang="en-US" sz="1600" b="1" dirty="0">
                <a:latin typeface="Arial" panose="020B0604020202020204" pitchFamily="34" charset="0"/>
                <a:cs typeface="Arial" panose="020B0604020202020204" pitchFamily="34" charset="0"/>
              </a:rPr>
              <a:t>Key Observations</a:t>
            </a:r>
          </a:p>
          <a:p>
            <a:pPr algn="just"/>
            <a:endParaRPr lang="en-US" sz="1400" b="1"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n-US" sz="1400" dirty="0">
                <a:latin typeface="Arial" panose="020B0604020202020204" pitchFamily="34" charset="0"/>
                <a:cs typeface="Arial" panose="020B0604020202020204" pitchFamily="34" charset="0"/>
              </a:rPr>
              <a:t>Credit card payments dominate the number of 5-star rated orders.</a:t>
            </a:r>
          </a:p>
          <a:p>
            <a:pPr marL="285750" indent="-285750" algn="just">
              <a:buFont typeface="Arial" panose="020B0604020202020204" pitchFamily="34" charset="0"/>
              <a:buChar char="•"/>
            </a:pPr>
            <a:r>
              <a:rPr lang="en-US" sz="1400" dirty="0">
                <a:latin typeface="Arial" panose="020B0604020202020204" pitchFamily="34" charset="0"/>
                <a:cs typeface="Arial" panose="020B0604020202020204" pitchFamily="34" charset="0"/>
              </a:rPr>
              <a:t>Other payment methods such as boleto, voucher, and debit card have significantly lower order counts.</a:t>
            </a:r>
          </a:p>
          <a:p>
            <a:pPr marL="285750" indent="-285750" algn="just">
              <a:buFont typeface="Arial" panose="020B0604020202020204" pitchFamily="34" charset="0"/>
              <a:buChar char="•"/>
            </a:pPr>
            <a:r>
              <a:rPr lang="en-US" sz="1400" dirty="0">
                <a:latin typeface="Arial" panose="020B0604020202020204" pitchFamily="34" charset="0"/>
                <a:cs typeface="Arial" panose="020B0604020202020204" pitchFamily="34" charset="0"/>
              </a:rPr>
              <a:t>Digital payment users appear to provide higher customer satisfaction ratings</a:t>
            </a:r>
            <a:endParaRPr lang="en-IN" sz="1400" dirty="0">
              <a:latin typeface="Arial" panose="020B0604020202020204" pitchFamily="34" charset="0"/>
              <a:cs typeface="Arial" panose="020B0604020202020204" pitchFamily="34" charset="0"/>
            </a:endParaRPr>
          </a:p>
        </p:txBody>
      </p:sp>
      <p:grpSp>
        <p:nvGrpSpPr>
          <p:cNvPr id="18" name="object 13">
            <a:extLst>
              <a:ext uri="{FF2B5EF4-FFF2-40B4-BE49-F238E27FC236}">
                <a16:creationId xmlns:a16="http://schemas.microsoft.com/office/drawing/2014/main" id="{78B46019-7AE8-F6E4-B896-878558F8BABA}"/>
              </a:ext>
            </a:extLst>
          </p:cNvPr>
          <p:cNvGrpSpPr/>
          <p:nvPr/>
        </p:nvGrpSpPr>
        <p:grpSpPr>
          <a:xfrm>
            <a:off x="6701791" y="4243733"/>
            <a:ext cx="5033009" cy="1231106"/>
            <a:chOff x="7058024" y="4286251"/>
            <a:chExt cx="4829493" cy="1257499"/>
          </a:xfrm>
        </p:grpSpPr>
        <p:sp>
          <p:nvSpPr>
            <p:cNvPr id="19" name="object 14">
              <a:extLst>
                <a:ext uri="{FF2B5EF4-FFF2-40B4-BE49-F238E27FC236}">
                  <a16:creationId xmlns:a16="http://schemas.microsoft.com/office/drawing/2014/main" id="{BCED0331-9E13-4D68-08DB-DDB4D1EF6FE8}"/>
                </a:ext>
              </a:extLst>
            </p:cNvPr>
            <p:cNvSpPr/>
            <p:nvPr/>
          </p:nvSpPr>
          <p:spPr>
            <a:xfrm>
              <a:off x="7081837" y="4286251"/>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dirty="0"/>
            </a:p>
          </p:txBody>
        </p:sp>
        <p:sp>
          <p:nvSpPr>
            <p:cNvPr id="20" name="object 15">
              <a:extLst>
                <a:ext uri="{FF2B5EF4-FFF2-40B4-BE49-F238E27FC236}">
                  <a16:creationId xmlns:a16="http://schemas.microsoft.com/office/drawing/2014/main" id="{7F940B38-A5BB-350E-C4A8-6EADABDDE2DE}"/>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sp>
        <p:nvSpPr>
          <p:cNvPr id="21" name="TextBox 20">
            <a:extLst>
              <a:ext uri="{FF2B5EF4-FFF2-40B4-BE49-F238E27FC236}">
                <a16:creationId xmlns:a16="http://schemas.microsoft.com/office/drawing/2014/main" id="{7DEF74DD-E27E-B725-3FC2-62D62550F95C}"/>
              </a:ext>
            </a:extLst>
          </p:cNvPr>
          <p:cNvSpPr txBox="1"/>
          <p:nvPr/>
        </p:nvSpPr>
        <p:spPr>
          <a:xfrm>
            <a:off x="6941026" y="4266406"/>
            <a:ext cx="4488974" cy="1169551"/>
          </a:xfrm>
          <a:prstGeom prst="rect">
            <a:avLst/>
          </a:prstGeom>
          <a:noFill/>
        </p:spPr>
        <p:txBody>
          <a:bodyPr wrap="square" rtlCol="0">
            <a:spAutoFit/>
          </a:bodyPr>
          <a:lstStyle/>
          <a:p>
            <a:pPr algn="just"/>
            <a:r>
              <a:rPr lang="en-US" sz="1400" b="1" cap="all" dirty="0">
                <a:latin typeface="Arial" panose="020B0604020202020204" pitchFamily="34" charset="0"/>
                <a:cs typeface="Arial" panose="020B0604020202020204" pitchFamily="34" charset="0"/>
              </a:rPr>
              <a:t>Business Insight</a:t>
            </a:r>
          </a:p>
          <a:p>
            <a:pPr algn="just"/>
            <a:r>
              <a:rPr lang="en-US" sz="1400" dirty="0">
                <a:latin typeface="Arial" panose="020B0604020202020204" pitchFamily="34" charset="0"/>
                <a:cs typeface="Arial" panose="020B0604020202020204" pitchFamily="34" charset="0"/>
              </a:rPr>
              <a:t>Encouraging digital payment methods like credit cards through cashback or rewards can improve checkout convenience and potentially increase positive customer reviews</a:t>
            </a:r>
            <a:endParaRPr lang="en-IN" dirty="0">
              <a:latin typeface="Arial" panose="020B0604020202020204" pitchFamily="34" charset="0"/>
              <a:cs typeface="Arial" panose="020B0604020202020204" pitchFamily="34" charset="0"/>
            </a:endParaRPr>
          </a:p>
        </p:txBody>
      </p:sp>
      <p:pic>
        <p:nvPicPr>
          <p:cNvPr id="23" name="Picture 22">
            <a:extLst>
              <a:ext uri="{FF2B5EF4-FFF2-40B4-BE49-F238E27FC236}">
                <a16:creationId xmlns:a16="http://schemas.microsoft.com/office/drawing/2014/main" id="{AC4772CF-30F4-AD85-1CCD-50909E0D4DDD}"/>
              </a:ext>
            </a:extLst>
          </p:cNvPr>
          <p:cNvPicPr>
            <a:picLocks noChangeAspect="1"/>
          </p:cNvPicPr>
          <p:nvPr/>
        </p:nvPicPr>
        <p:blipFill>
          <a:blip r:embed="rId2"/>
          <a:srcRect t="1684" r="792"/>
          <a:stretch>
            <a:fillRect/>
          </a:stretch>
        </p:blipFill>
        <p:spPr>
          <a:xfrm>
            <a:off x="339024" y="1447006"/>
            <a:ext cx="6198971" cy="4027638"/>
          </a:xfrm>
          <a:prstGeom prst="rect">
            <a:avLst/>
          </a:prstGeom>
        </p:spPr>
      </p:pic>
    </p:spTree>
    <p:extLst>
      <p:ext uri="{BB962C8B-B14F-4D97-AF65-F5344CB8AC3E}">
        <p14:creationId xmlns:p14="http://schemas.microsoft.com/office/powerpoint/2010/main" val="35970153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C70FAB-235E-C53C-EE37-1A2FDFB87F27}"/>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D0EC0263-5890-8A63-5F41-6F6ECB411220}"/>
              </a:ext>
            </a:extLst>
          </p:cNvPr>
          <p:cNvSpPr txBox="1">
            <a:spLocks noGrp="1"/>
          </p:cNvSpPr>
          <p:nvPr>
            <p:ph type="title"/>
          </p:nvPr>
        </p:nvSpPr>
        <p:spPr>
          <a:xfrm>
            <a:off x="339024" y="380206"/>
            <a:ext cx="5147376" cy="843821"/>
          </a:xfrm>
          <a:prstGeom prst="rect">
            <a:avLst/>
          </a:prstGeom>
        </p:spPr>
        <p:txBody>
          <a:bodyPr vert="horz" wrap="square" lIns="0" tIns="12700" rIns="0" bIns="0" rtlCol="0">
            <a:spAutoFit/>
          </a:bodyPr>
          <a:lstStyle/>
          <a:p>
            <a:r>
              <a:rPr lang="en-US" dirty="0"/>
              <a:t>KPI 3 – Average Delivery Time for Pet shop Product</a:t>
            </a:r>
          </a:p>
        </p:txBody>
      </p:sp>
      <p:sp>
        <p:nvSpPr>
          <p:cNvPr id="14" name="object 22">
            <a:extLst>
              <a:ext uri="{FF2B5EF4-FFF2-40B4-BE49-F238E27FC236}">
                <a16:creationId xmlns:a16="http://schemas.microsoft.com/office/drawing/2014/main" id="{8397D85E-0835-4D50-A7BB-B9EED5D7B8A4}"/>
              </a:ext>
            </a:extLst>
          </p:cNvPr>
          <p:cNvSpPr txBox="1">
            <a:spLocks noGrp="1"/>
          </p:cNvSpPr>
          <p:nvPr>
            <p:ph type="dt" sz="half" idx="6"/>
          </p:nvPr>
        </p:nvSpPr>
        <p:spPr>
          <a:xfrm>
            <a:off x="10106868" y="6501376"/>
            <a:ext cx="1793240" cy="184666"/>
          </a:xfrm>
          <a:prstGeom prst="rect">
            <a:avLst/>
          </a:prstGeom>
        </p:spPr>
        <p:txBody>
          <a:bodyPr vert="horz" wrap="square" lIns="0" tIns="22860" rIns="0" bIns="0" rtlCol="0">
            <a:spAutoFit/>
          </a:bodyPr>
          <a:lstStyle/>
          <a:p>
            <a:pPr marL="12700">
              <a:lnSpc>
                <a:spcPct val="100000"/>
              </a:lnSpc>
              <a:spcBef>
                <a:spcPts val="180"/>
              </a:spcBef>
            </a:pPr>
            <a:r>
              <a:rPr lang="en-US" spc="-10" dirty="0"/>
              <a:t>Olist Store Analysis</a:t>
            </a:r>
          </a:p>
        </p:txBody>
      </p:sp>
      <p:grpSp>
        <p:nvGrpSpPr>
          <p:cNvPr id="13" name="object 13">
            <a:extLst>
              <a:ext uri="{FF2B5EF4-FFF2-40B4-BE49-F238E27FC236}">
                <a16:creationId xmlns:a16="http://schemas.microsoft.com/office/drawing/2014/main" id="{EF303725-9006-5A91-77C6-2439860819E3}"/>
              </a:ext>
            </a:extLst>
          </p:cNvPr>
          <p:cNvGrpSpPr/>
          <p:nvPr/>
        </p:nvGrpSpPr>
        <p:grpSpPr>
          <a:xfrm>
            <a:off x="6701790" y="1678664"/>
            <a:ext cx="5033010" cy="2455656"/>
            <a:chOff x="7058024" y="4286251"/>
            <a:chExt cx="4829493" cy="1257499"/>
          </a:xfrm>
        </p:grpSpPr>
        <p:sp>
          <p:nvSpPr>
            <p:cNvPr id="15" name="object 14">
              <a:extLst>
                <a:ext uri="{FF2B5EF4-FFF2-40B4-BE49-F238E27FC236}">
                  <a16:creationId xmlns:a16="http://schemas.microsoft.com/office/drawing/2014/main" id="{BC8947DC-A978-BEE2-C630-1B79937513EF}"/>
                </a:ext>
              </a:extLst>
            </p:cNvPr>
            <p:cNvSpPr/>
            <p:nvPr/>
          </p:nvSpPr>
          <p:spPr>
            <a:xfrm>
              <a:off x="7081837" y="4286251"/>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dirty="0"/>
            </a:p>
          </p:txBody>
        </p:sp>
        <p:sp>
          <p:nvSpPr>
            <p:cNvPr id="16" name="object 15">
              <a:extLst>
                <a:ext uri="{FF2B5EF4-FFF2-40B4-BE49-F238E27FC236}">
                  <a16:creationId xmlns:a16="http://schemas.microsoft.com/office/drawing/2014/main" id="{681221F0-5869-F8C8-7EEB-F66B9E737852}"/>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sp>
        <p:nvSpPr>
          <p:cNvPr id="17" name="TextBox 16">
            <a:extLst>
              <a:ext uri="{FF2B5EF4-FFF2-40B4-BE49-F238E27FC236}">
                <a16:creationId xmlns:a16="http://schemas.microsoft.com/office/drawing/2014/main" id="{2DD65FE1-AA26-445A-D620-F819D60C1ED1}"/>
              </a:ext>
            </a:extLst>
          </p:cNvPr>
          <p:cNvSpPr txBox="1"/>
          <p:nvPr/>
        </p:nvSpPr>
        <p:spPr>
          <a:xfrm>
            <a:off x="6941026" y="1831064"/>
            <a:ext cx="4530403" cy="1877437"/>
          </a:xfrm>
          <a:prstGeom prst="rect">
            <a:avLst/>
          </a:prstGeom>
          <a:noFill/>
        </p:spPr>
        <p:txBody>
          <a:bodyPr wrap="square" rtlCol="0">
            <a:spAutoFit/>
          </a:bodyPr>
          <a:lstStyle/>
          <a:p>
            <a:pPr algn="just"/>
            <a:r>
              <a:rPr lang="en-US" sz="1600" b="1" dirty="0">
                <a:latin typeface="Arial" panose="020B0604020202020204" pitchFamily="34" charset="0"/>
                <a:cs typeface="Arial" panose="020B0604020202020204" pitchFamily="34" charset="0"/>
              </a:rPr>
              <a:t>Key Observations</a:t>
            </a:r>
          </a:p>
          <a:p>
            <a:pPr algn="just"/>
            <a:endParaRPr lang="en-US" sz="1600" b="1"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n-US" sz="1400" dirty="0">
                <a:latin typeface="Arial" panose="020B0604020202020204" pitchFamily="34" charset="0"/>
                <a:cs typeface="Arial" panose="020B0604020202020204" pitchFamily="34" charset="0"/>
              </a:rPr>
              <a:t>The </a:t>
            </a:r>
            <a:r>
              <a:rPr lang="en-US" sz="1400" dirty="0" err="1">
                <a:latin typeface="Arial" panose="020B0604020202020204" pitchFamily="34" charset="0"/>
                <a:cs typeface="Arial" panose="020B0604020202020204" pitchFamily="34" charset="0"/>
              </a:rPr>
              <a:t>pet_shop</a:t>
            </a:r>
            <a:r>
              <a:rPr lang="en-US" sz="1400" dirty="0">
                <a:latin typeface="Arial" panose="020B0604020202020204" pitchFamily="34" charset="0"/>
                <a:cs typeface="Arial" panose="020B0604020202020204" pitchFamily="34" charset="0"/>
              </a:rPr>
              <a:t> category has an average delivery time of around 11–12 days.</a:t>
            </a:r>
          </a:p>
          <a:p>
            <a:pPr marL="285750" indent="-285750" algn="just">
              <a:buFont typeface="Arial" panose="020B0604020202020204" pitchFamily="34" charset="0"/>
              <a:buChar char="•"/>
            </a:pPr>
            <a:r>
              <a:rPr lang="en-US" sz="1400" dirty="0">
                <a:latin typeface="Arial" panose="020B0604020202020204" pitchFamily="34" charset="0"/>
                <a:cs typeface="Arial" panose="020B0604020202020204" pitchFamily="34" charset="0"/>
              </a:rPr>
              <a:t>Delivery performance is relatively consistent compared to other categories.</a:t>
            </a:r>
          </a:p>
          <a:p>
            <a:pPr marL="285750" indent="-285750" algn="just">
              <a:buFont typeface="Arial" panose="020B0604020202020204" pitchFamily="34" charset="0"/>
              <a:buChar char="•"/>
            </a:pPr>
            <a:r>
              <a:rPr lang="en-US" sz="1400" dirty="0">
                <a:latin typeface="Arial" panose="020B0604020202020204" pitchFamily="34" charset="0"/>
                <a:cs typeface="Arial" panose="020B0604020202020204" pitchFamily="34" charset="0"/>
              </a:rPr>
              <a:t>Shipping time is a critical factor influencing customer experience.</a:t>
            </a:r>
            <a:endParaRPr lang="en-IN" sz="1400" dirty="0">
              <a:latin typeface="Arial" panose="020B0604020202020204" pitchFamily="34" charset="0"/>
              <a:cs typeface="Arial" panose="020B0604020202020204" pitchFamily="34" charset="0"/>
            </a:endParaRPr>
          </a:p>
        </p:txBody>
      </p:sp>
      <p:grpSp>
        <p:nvGrpSpPr>
          <p:cNvPr id="18" name="object 13">
            <a:extLst>
              <a:ext uri="{FF2B5EF4-FFF2-40B4-BE49-F238E27FC236}">
                <a16:creationId xmlns:a16="http://schemas.microsoft.com/office/drawing/2014/main" id="{28BD5A62-D8A7-AEC8-830F-F537DD289049}"/>
              </a:ext>
            </a:extLst>
          </p:cNvPr>
          <p:cNvGrpSpPr/>
          <p:nvPr/>
        </p:nvGrpSpPr>
        <p:grpSpPr>
          <a:xfrm>
            <a:off x="6701791" y="4243733"/>
            <a:ext cx="5033009" cy="1230911"/>
            <a:chOff x="7058024" y="4286251"/>
            <a:chExt cx="4829493" cy="1257499"/>
          </a:xfrm>
        </p:grpSpPr>
        <p:sp>
          <p:nvSpPr>
            <p:cNvPr id="19" name="object 14">
              <a:extLst>
                <a:ext uri="{FF2B5EF4-FFF2-40B4-BE49-F238E27FC236}">
                  <a16:creationId xmlns:a16="http://schemas.microsoft.com/office/drawing/2014/main" id="{59312C10-A5DD-81C9-C7C2-9F51ED7948E5}"/>
                </a:ext>
              </a:extLst>
            </p:cNvPr>
            <p:cNvSpPr/>
            <p:nvPr/>
          </p:nvSpPr>
          <p:spPr>
            <a:xfrm>
              <a:off x="7081837" y="4286251"/>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dirty="0"/>
            </a:p>
          </p:txBody>
        </p:sp>
        <p:sp>
          <p:nvSpPr>
            <p:cNvPr id="20" name="object 15">
              <a:extLst>
                <a:ext uri="{FF2B5EF4-FFF2-40B4-BE49-F238E27FC236}">
                  <a16:creationId xmlns:a16="http://schemas.microsoft.com/office/drawing/2014/main" id="{0FB6A8F7-D3BC-B8DD-AE13-86347EFBC6F7}"/>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sp>
        <p:nvSpPr>
          <p:cNvPr id="21" name="TextBox 20">
            <a:extLst>
              <a:ext uri="{FF2B5EF4-FFF2-40B4-BE49-F238E27FC236}">
                <a16:creationId xmlns:a16="http://schemas.microsoft.com/office/drawing/2014/main" id="{6B435CF6-FB51-8D44-B724-4635AA260988}"/>
              </a:ext>
            </a:extLst>
          </p:cNvPr>
          <p:cNvSpPr txBox="1"/>
          <p:nvPr/>
        </p:nvSpPr>
        <p:spPr>
          <a:xfrm>
            <a:off x="6941026" y="4342606"/>
            <a:ext cx="4488974" cy="954107"/>
          </a:xfrm>
          <a:prstGeom prst="rect">
            <a:avLst/>
          </a:prstGeom>
          <a:noFill/>
        </p:spPr>
        <p:txBody>
          <a:bodyPr wrap="square" rtlCol="0">
            <a:spAutoFit/>
          </a:bodyPr>
          <a:lstStyle/>
          <a:p>
            <a:pPr algn="just"/>
            <a:r>
              <a:rPr lang="en-US" sz="1400" b="1" cap="all" dirty="0">
                <a:latin typeface="Arial" panose="020B0604020202020204" pitchFamily="34" charset="0"/>
                <a:cs typeface="Arial" panose="020B0604020202020204" pitchFamily="34" charset="0"/>
              </a:rPr>
              <a:t>Business Insight</a:t>
            </a:r>
          </a:p>
          <a:p>
            <a:pPr algn="just"/>
            <a:r>
              <a:rPr lang="en-US" sz="1400" dirty="0">
                <a:latin typeface="Arial" panose="020B0604020202020204" pitchFamily="34" charset="0"/>
                <a:cs typeface="Arial" panose="020B0604020202020204" pitchFamily="34" charset="0"/>
              </a:rPr>
              <a:t>Improving logistics efficiency and reducing delivery times can enhance customer satisfaction and increase repeat purchases in the pet product category.</a:t>
            </a:r>
            <a:endParaRPr lang="en-IN"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08961518-0666-B7E2-015C-81C9CEA25CE9}"/>
              </a:ext>
            </a:extLst>
          </p:cNvPr>
          <p:cNvPicPr>
            <a:picLocks noChangeAspect="1"/>
          </p:cNvPicPr>
          <p:nvPr/>
        </p:nvPicPr>
        <p:blipFill>
          <a:blip r:embed="rId2"/>
          <a:stretch>
            <a:fillRect/>
          </a:stretch>
        </p:blipFill>
        <p:spPr>
          <a:xfrm>
            <a:off x="334776" y="1650831"/>
            <a:ext cx="6203219" cy="3823813"/>
          </a:xfrm>
          <a:prstGeom prst="rect">
            <a:avLst/>
          </a:prstGeom>
        </p:spPr>
      </p:pic>
    </p:spTree>
    <p:extLst>
      <p:ext uri="{BB962C8B-B14F-4D97-AF65-F5344CB8AC3E}">
        <p14:creationId xmlns:p14="http://schemas.microsoft.com/office/powerpoint/2010/main" val="26686246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CA1BA8-E155-B1CB-B676-0D300D8A2884}"/>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D9F3E58C-13EE-A2C6-DD29-A70C597134BE}"/>
              </a:ext>
            </a:extLst>
          </p:cNvPr>
          <p:cNvSpPr txBox="1">
            <a:spLocks noGrp="1"/>
          </p:cNvSpPr>
          <p:nvPr>
            <p:ph type="title"/>
          </p:nvPr>
        </p:nvSpPr>
        <p:spPr>
          <a:xfrm>
            <a:off x="339024" y="380206"/>
            <a:ext cx="5147376" cy="843821"/>
          </a:xfrm>
          <a:prstGeom prst="rect">
            <a:avLst/>
          </a:prstGeom>
        </p:spPr>
        <p:txBody>
          <a:bodyPr vert="horz" wrap="square" lIns="0" tIns="12700" rIns="0" bIns="0" rtlCol="0">
            <a:spAutoFit/>
          </a:bodyPr>
          <a:lstStyle/>
          <a:p>
            <a:r>
              <a:rPr lang="en-US" dirty="0"/>
              <a:t>KPI 4 – </a:t>
            </a:r>
            <a:r>
              <a:rPr lang="en-IN" dirty="0"/>
              <a:t>Average Order Price vs Payment value for Sao Paulo </a:t>
            </a:r>
            <a:endParaRPr lang="en-US" dirty="0"/>
          </a:p>
        </p:txBody>
      </p:sp>
      <p:sp>
        <p:nvSpPr>
          <p:cNvPr id="14" name="object 22">
            <a:extLst>
              <a:ext uri="{FF2B5EF4-FFF2-40B4-BE49-F238E27FC236}">
                <a16:creationId xmlns:a16="http://schemas.microsoft.com/office/drawing/2014/main" id="{19BE1767-6743-4CFE-D1C0-C7B079482805}"/>
              </a:ext>
            </a:extLst>
          </p:cNvPr>
          <p:cNvSpPr txBox="1">
            <a:spLocks noGrp="1"/>
          </p:cNvSpPr>
          <p:nvPr>
            <p:ph type="dt" sz="half" idx="6"/>
          </p:nvPr>
        </p:nvSpPr>
        <p:spPr>
          <a:xfrm>
            <a:off x="10106868" y="6501376"/>
            <a:ext cx="1793240" cy="184666"/>
          </a:xfrm>
          <a:prstGeom prst="rect">
            <a:avLst/>
          </a:prstGeom>
        </p:spPr>
        <p:txBody>
          <a:bodyPr vert="horz" wrap="square" lIns="0" tIns="22860" rIns="0" bIns="0" rtlCol="0">
            <a:spAutoFit/>
          </a:bodyPr>
          <a:lstStyle/>
          <a:p>
            <a:pPr marL="12700">
              <a:lnSpc>
                <a:spcPct val="100000"/>
              </a:lnSpc>
              <a:spcBef>
                <a:spcPts val="180"/>
              </a:spcBef>
            </a:pPr>
            <a:r>
              <a:rPr lang="en-US" spc="-10" dirty="0"/>
              <a:t>Olist Store Analysis</a:t>
            </a:r>
          </a:p>
        </p:txBody>
      </p:sp>
      <p:grpSp>
        <p:nvGrpSpPr>
          <p:cNvPr id="13" name="object 13">
            <a:extLst>
              <a:ext uri="{FF2B5EF4-FFF2-40B4-BE49-F238E27FC236}">
                <a16:creationId xmlns:a16="http://schemas.microsoft.com/office/drawing/2014/main" id="{21A06E5E-C340-B05D-E7FE-88697E110353}"/>
              </a:ext>
            </a:extLst>
          </p:cNvPr>
          <p:cNvGrpSpPr/>
          <p:nvPr/>
        </p:nvGrpSpPr>
        <p:grpSpPr>
          <a:xfrm>
            <a:off x="6701790" y="1678664"/>
            <a:ext cx="5033010" cy="2455656"/>
            <a:chOff x="7058024" y="4286251"/>
            <a:chExt cx="4829493" cy="1257499"/>
          </a:xfrm>
        </p:grpSpPr>
        <p:sp>
          <p:nvSpPr>
            <p:cNvPr id="15" name="object 14">
              <a:extLst>
                <a:ext uri="{FF2B5EF4-FFF2-40B4-BE49-F238E27FC236}">
                  <a16:creationId xmlns:a16="http://schemas.microsoft.com/office/drawing/2014/main" id="{92D61F34-AD84-0228-1F35-827AC773C369}"/>
                </a:ext>
              </a:extLst>
            </p:cNvPr>
            <p:cNvSpPr/>
            <p:nvPr/>
          </p:nvSpPr>
          <p:spPr>
            <a:xfrm>
              <a:off x="7081837" y="4286251"/>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dirty="0"/>
            </a:p>
          </p:txBody>
        </p:sp>
        <p:sp>
          <p:nvSpPr>
            <p:cNvPr id="16" name="object 15">
              <a:extLst>
                <a:ext uri="{FF2B5EF4-FFF2-40B4-BE49-F238E27FC236}">
                  <a16:creationId xmlns:a16="http://schemas.microsoft.com/office/drawing/2014/main" id="{B727C905-1F10-0AE2-958C-260D574BB171}"/>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sp>
        <p:nvSpPr>
          <p:cNvPr id="17" name="TextBox 16">
            <a:extLst>
              <a:ext uri="{FF2B5EF4-FFF2-40B4-BE49-F238E27FC236}">
                <a16:creationId xmlns:a16="http://schemas.microsoft.com/office/drawing/2014/main" id="{3D9D034F-DD62-F634-7E92-2CD8ACE7F6BB}"/>
              </a:ext>
            </a:extLst>
          </p:cNvPr>
          <p:cNvSpPr txBox="1"/>
          <p:nvPr/>
        </p:nvSpPr>
        <p:spPr>
          <a:xfrm>
            <a:off x="6941026" y="1831064"/>
            <a:ext cx="4530403" cy="2308324"/>
          </a:xfrm>
          <a:prstGeom prst="rect">
            <a:avLst/>
          </a:prstGeom>
          <a:noFill/>
        </p:spPr>
        <p:txBody>
          <a:bodyPr wrap="square" rtlCol="0">
            <a:spAutoFit/>
          </a:bodyPr>
          <a:lstStyle/>
          <a:p>
            <a:pPr algn="just"/>
            <a:r>
              <a:rPr lang="en-US" sz="1600" b="1" dirty="0">
                <a:latin typeface="Arial" panose="020B0604020202020204" pitchFamily="34" charset="0"/>
                <a:cs typeface="Arial" panose="020B0604020202020204" pitchFamily="34" charset="0"/>
              </a:rPr>
              <a:t>Key Observations</a:t>
            </a:r>
          </a:p>
          <a:p>
            <a:pPr algn="just"/>
            <a:endParaRPr lang="en-US" sz="1600" b="1"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n-US" sz="1400" dirty="0">
                <a:latin typeface="Arial" panose="020B0604020202020204" pitchFamily="34" charset="0"/>
                <a:cs typeface="Arial" panose="020B0604020202020204" pitchFamily="34" charset="0"/>
              </a:rPr>
              <a:t>Customers located in São Paulo show relatively high average payment values.</a:t>
            </a:r>
          </a:p>
          <a:p>
            <a:pPr marL="285750" indent="-285750" algn="just">
              <a:buFont typeface="Arial" panose="020B0604020202020204" pitchFamily="34" charset="0"/>
              <a:buChar char="•"/>
            </a:pPr>
            <a:r>
              <a:rPr lang="en-US" sz="1400" dirty="0">
                <a:latin typeface="Arial" panose="020B0604020202020204" pitchFamily="34" charset="0"/>
                <a:cs typeface="Arial" panose="020B0604020202020204" pitchFamily="34" charset="0"/>
              </a:rPr>
              <a:t>The average payment value is higher than the average product price, indicating possible additional costs like shipping or multiple items per order.</a:t>
            </a:r>
          </a:p>
          <a:p>
            <a:pPr marL="285750" indent="-285750" algn="just">
              <a:buFont typeface="Arial" panose="020B0604020202020204" pitchFamily="34" charset="0"/>
              <a:buChar char="•"/>
            </a:pPr>
            <a:r>
              <a:rPr lang="en-US" sz="1400" dirty="0">
                <a:latin typeface="Arial" panose="020B0604020202020204" pitchFamily="34" charset="0"/>
                <a:cs typeface="Arial" panose="020B0604020202020204" pitchFamily="34" charset="0"/>
              </a:rPr>
              <a:t>São Paulo represents a high-value customer segment.</a:t>
            </a:r>
            <a:endParaRPr lang="en-IN" sz="1400" dirty="0">
              <a:latin typeface="Arial" panose="020B0604020202020204" pitchFamily="34" charset="0"/>
              <a:cs typeface="Arial" panose="020B0604020202020204" pitchFamily="34" charset="0"/>
            </a:endParaRPr>
          </a:p>
        </p:txBody>
      </p:sp>
      <p:grpSp>
        <p:nvGrpSpPr>
          <p:cNvPr id="18" name="object 13">
            <a:extLst>
              <a:ext uri="{FF2B5EF4-FFF2-40B4-BE49-F238E27FC236}">
                <a16:creationId xmlns:a16="http://schemas.microsoft.com/office/drawing/2014/main" id="{16EA8EE0-B9AC-837E-5621-C37B539C7210}"/>
              </a:ext>
            </a:extLst>
          </p:cNvPr>
          <p:cNvGrpSpPr/>
          <p:nvPr/>
        </p:nvGrpSpPr>
        <p:grpSpPr>
          <a:xfrm>
            <a:off x="6701791" y="4243733"/>
            <a:ext cx="5033009" cy="1231106"/>
            <a:chOff x="7058024" y="4286251"/>
            <a:chExt cx="4829493" cy="1257499"/>
          </a:xfrm>
        </p:grpSpPr>
        <p:sp>
          <p:nvSpPr>
            <p:cNvPr id="19" name="object 14">
              <a:extLst>
                <a:ext uri="{FF2B5EF4-FFF2-40B4-BE49-F238E27FC236}">
                  <a16:creationId xmlns:a16="http://schemas.microsoft.com/office/drawing/2014/main" id="{2A32CBEC-16A2-B563-8D5E-F9CB42389B5D}"/>
                </a:ext>
              </a:extLst>
            </p:cNvPr>
            <p:cNvSpPr/>
            <p:nvPr/>
          </p:nvSpPr>
          <p:spPr>
            <a:xfrm>
              <a:off x="7081837" y="4286251"/>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dirty="0"/>
            </a:p>
          </p:txBody>
        </p:sp>
        <p:sp>
          <p:nvSpPr>
            <p:cNvPr id="20" name="object 15">
              <a:extLst>
                <a:ext uri="{FF2B5EF4-FFF2-40B4-BE49-F238E27FC236}">
                  <a16:creationId xmlns:a16="http://schemas.microsoft.com/office/drawing/2014/main" id="{AF2A2496-0452-893E-08FC-DAE57A48D590}"/>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sp>
        <p:nvSpPr>
          <p:cNvPr id="21" name="TextBox 20">
            <a:extLst>
              <a:ext uri="{FF2B5EF4-FFF2-40B4-BE49-F238E27FC236}">
                <a16:creationId xmlns:a16="http://schemas.microsoft.com/office/drawing/2014/main" id="{F033A275-099D-677C-3A3B-45B2115A0063}"/>
              </a:ext>
            </a:extLst>
          </p:cNvPr>
          <p:cNvSpPr txBox="1"/>
          <p:nvPr/>
        </p:nvSpPr>
        <p:spPr>
          <a:xfrm>
            <a:off x="6941026" y="4342606"/>
            <a:ext cx="4488974" cy="1231106"/>
          </a:xfrm>
          <a:prstGeom prst="rect">
            <a:avLst/>
          </a:prstGeom>
          <a:noFill/>
        </p:spPr>
        <p:txBody>
          <a:bodyPr wrap="square" rtlCol="0">
            <a:spAutoFit/>
          </a:bodyPr>
          <a:lstStyle/>
          <a:p>
            <a:pPr algn="just"/>
            <a:r>
              <a:rPr lang="en-US" sz="1400" b="1" cap="all" dirty="0">
                <a:latin typeface="Arial" panose="020B0604020202020204" pitchFamily="34" charset="0"/>
                <a:cs typeface="Arial" panose="020B0604020202020204" pitchFamily="34" charset="0"/>
              </a:rPr>
              <a:t>Business Insight</a:t>
            </a:r>
          </a:p>
          <a:p>
            <a:pPr algn="just"/>
            <a:r>
              <a:rPr lang="en-US" sz="1400" dirty="0">
                <a:latin typeface="Arial" panose="020B0604020202020204" pitchFamily="34" charset="0"/>
                <a:cs typeface="Arial" panose="020B0604020202020204" pitchFamily="34" charset="0"/>
              </a:rPr>
              <a:t>Businesses should prioritize regional marketing strategies and targeted campaigns in São Paulo to maximize revenue from this high-spending market.</a:t>
            </a:r>
          </a:p>
          <a:p>
            <a:pPr algn="just"/>
            <a:endParaRPr lang="en-IN"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9A313001-DAC9-DFC3-7262-B8E06E59EE45}"/>
              </a:ext>
            </a:extLst>
          </p:cNvPr>
          <p:cNvPicPr>
            <a:picLocks noChangeAspect="1"/>
          </p:cNvPicPr>
          <p:nvPr/>
        </p:nvPicPr>
        <p:blipFill>
          <a:blip r:embed="rId2"/>
          <a:srcRect l="1223"/>
          <a:stretch>
            <a:fillRect/>
          </a:stretch>
        </p:blipFill>
        <p:spPr>
          <a:xfrm>
            <a:off x="414464" y="1586801"/>
            <a:ext cx="6091449" cy="3887843"/>
          </a:xfrm>
          <a:prstGeom prst="rect">
            <a:avLst/>
          </a:prstGeom>
        </p:spPr>
      </p:pic>
    </p:spTree>
    <p:extLst>
      <p:ext uri="{BB962C8B-B14F-4D97-AF65-F5344CB8AC3E}">
        <p14:creationId xmlns:p14="http://schemas.microsoft.com/office/powerpoint/2010/main" val="10828837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375DBB-F499-1360-AA8F-7B42C940652E}"/>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16CABA04-7438-490B-29CC-50501AA1FADF}"/>
              </a:ext>
            </a:extLst>
          </p:cNvPr>
          <p:cNvSpPr txBox="1">
            <a:spLocks noGrp="1"/>
          </p:cNvSpPr>
          <p:nvPr>
            <p:ph type="title"/>
          </p:nvPr>
        </p:nvSpPr>
        <p:spPr>
          <a:xfrm>
            <a:off x="339024" y="380206"/>
            <a:ext cx="5147376" cy="843821"/>
          </a:xfrm>
          <a:prstGeom prst="rect">
            <a:avLst/>
          </a:prstGeom>
        </p:spPr>
        <p:txBody>
          <a:bodyPr vert="horz" wrap="square" lIns="0" tIns="12700" rIns="0" bIns="0" rtlCol="0">
            <a:spAutoFit/>
          </a:bodyPr>
          <a:lstStyle/>
          <a:p>
            <a:r>
              <a:rPr lang="en-US" dirty="0"/>
              <a:t>KPI 5 – </a:t>
            </a:r>
            <a:r>
              <a:rPr lang="en-IN" dirty="0"/>
              <a:t>Impact of Delivery Time on Customer Review Scores</a:t>
            </a:r>
            <a:endParaRPr lang="en-US" dirty="0"/>
          </a:p>
        </p:txBody>
      </p:sp>
      <p:sp>
        <p:nvSpPr>
          <p:cNvPr id="14" name="object 22">
            <a:extLst>
              <a:ext uri="{FF2B5EF4-FFF2-40B4-BE49-F238E27FC236}">
                <a16:creationId xmlns:a16="http://schemas.microsoft.com/office/drawing/2014/main" id="{9D64FE43-CA98-5F0E-B319-C6898017BECE}"/>
              </a:ext>
            </a:extLst>
          </p:cNvPr>
          <p:cNvSpPr txBox="1">
            <a:spLocks noGrp="1"/>
          </p:cNvSpPr>
          <p:nvPr>
            <p:ph type="dt" sz="half" idx="6"/>
          </p:nvPr>
        </p:nvSpPr>
        <p:spPr>
          <a:xfrm>
            <a:off x="10106868" y="6501376"/>
            <a:ext cx="1793240" cy="184666"/>
          </a:xfrm>
          <a:prstGeom prst="rect">
            <a:avLst/>
          </a:prstGeom>
        </p:spPr>
        <p:txBody>
          <a:bodyPr vert="horz" wrap="square" lIns="0" tIns="22860" rIns="0" bIns="0" rtlCol="0">
            <a:spAutoFit/>
          </a:bodyPr>
          <a:lstStyle/>
          <a:p>
            <a:pPr marL="12700">
              <a:lnSpc>
                <a:spcPct val="100000"/>
              </a:lnSpc>
              <a:spcBef>
                <a:spcPts val="180"/>
              </a:spcBef>
            </a:pPr>
            <a:r>
              <a:rPr lang="en-US" spc="-10" dirty="0"/>
              <a:t>Olist Store Analysis</a:t>
            </a:r>
          </a:p>
        </p:txBody>
      </p:sp>
      <p:grpSp>
        <p:nvGrpSpPr>
          <p:cNvPr id="13" name="object 13">
            <a:extLst>
              <a:ext uri="{FF2B5EF4-FFF2-40B4-BE49-F238E27FC236}">
                <a16:creationId xmlns:a16="http://schemas.microsoft.com/office/drawing/2014/main" id="{7584B3A5-69D2-904F-260E-1791CF410625}"/>
              </a:ext>
            </a:extLst>
          </p:cNvPr>
          <p:cNvGrpSpPr/>
          <p:nvPr/>
        </p:nvGrpSpPr>
        <p:grpSpPr>
          <a:xfrm>
            <a:off x="6701790" y="1678664"/>
            <a:ext cx="5033010" cy="2455656"/>
            <a:chOff x="7058024" y="4286251"/>
            <a:chExt cx="4829493" cy="1257499"/>
          </a:xfrm>
        </p:grpSpPr>
        <p:sp>
          <p:nvSpPr>
            <p:cNvPr id="15" name="object 14">
              <a:extLst>
                <a:ext uri="{FF2B5EF4-FFF2-40B4-BE49-F238E27FC236}">
                  <a16:creationId xmlns:a16="http://schemas.microsoft.com/office/drawing/2014/main" id="{DC950457-A18A-CC2B-1BBE-4D08562754AF}"/>
                </a:ext>
              </a:extLst>
            </p:cNvPr>
            <p:cNvSpPr/>
            <p:nvPr/>
          </p:nvSpPr>
          <p:spPr>
            <a:xfrm>
              <a:off x="7081837" y="4286251"/>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dirty="0"/>
            </a:p>
          </p:txBody>
        </p:sp>
        <p:sp>
          <p:nvSpPr>
            <p:cNvPr id="16" name="object 15">
              <a:extLst>
                <a:ext uri="{FF2B5EF4-FFF2-40B4-BE49-F238E27FC236}">
                  <a16:creationId xmlns:a16="http://schemas.microsoft.com/office/drawing/2014/main" id="{A0D72223-004C-D238-0F6A-43A82BBE7F7D}"/>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sp>
        <p:nvSpPr>
          <p:cNvPr id="17" name="TextBox 16">
            <a:extLst>
              <a:ext uri="{FF2B5EF4-FFF2-40B4-BE49-F238E27FC236}">
                <a16:creationId xmlns:a16="http://schemas.microsoft.com/office/drawing/2014/main" id="{6CA5A14D-2FDD-A042-CEA5-9465EDF9F126}"/>
              </a:ext>
            </a:extLst>
          </p:cNvPr>
          <p:cNvSpPr txBox="1"/>
          <p:nvPr/>
        </p:nvSpPr>
        <p:spPr>
          <a:xfrm>
            <a:off x="6941026" y="1831064"/>
            <a:ext cx="4530403" cy="1877437"/>
          </a:xfrm>
          <a:prstGeom prst="rect">
            <a:avLst/>
          </a:prstGeom>
          <a:noFill/>
        </p:spPr>
        <p:txBody>
          <a:bodyPr wrap="square" rtlCol="0">
            <a:spAutoFit/>
          </a:bodyPr>
          <a:lstStyle/>
          <a:p>
            <a:pPr algn="just"/>
            <a:r>
              <a:rPr lang="en-US" sz="1600" b="1" dirty="0">
                <a:latin typeface="Arial" panose="020B0604020202020204" pitchFamily="34" charset="0"/>
                <a:cs typeface="Arial" panose="020B0604020202020204" pitchFamily="34" charset="0"/>
              </a:rPr>
              <a:t>Key Observations</a:t>
            </a:r>
          </a:p>
          <a:p>
            <a:pPr algn="just"/>
            <a:endParaRPr lang="en-US" sz="1600" b="1"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n-US" sz="1400" dirty="0">
                <a:latin typeface="Arial" panose="020B0604020202020204" pitchFamily="34" charset="0"/>
                <a:cs typeface="Arial" panose="020B0604020202020204" pitchFamily="34" charset="0"/>
              </a:rPr>
              <a:t>Orders with higher review scores tend to have shorter delivery times</a:t>
            </a:r>
          </a:p>
          <a:p>
            <a:pPr marL="285750" indent="-285750" algn="just">
              <a:buFont typeface="Arial" panose="020B0604020202020204" pitchFamily="34" charset="0"/>
              <a:buChar char="•"/>
            </a:pPr>
            <a:r>
              <a:rPr lang="en-US" sz="1400" dirty="0">
                <a:latin typeface="Arial" panose="020B0604020202020204" pitchFamily="34" charset="0"/>
                <a:cs typeface="Arial" panose="020B0604020202020204" pitchFamily="34" charset="0"/>
              </a:rPr>
              <a:t> Lower review scores are associated with longer shipping durations.</a:t>
            </a:r>
          </a:p>
          <a:p>
            <a:pPr marL="285750" indent="-285750" algn="just">
              <a:buFont typeface="Arial" panose="020B0604020202020204" pitchFamily="34" charset="0"/>
              <a:buChar char="•"/>
            </a:pPr>
            <a:r>
              <a:rPr lang="en-US" sz="1400" dirty="0">
                <a:latin typeface="Arial" panose="020B0604020202020204" pitchFamily="34" charset="0"/>
                <a:cs typeface="Arial" panose="020B0604020202020204" pitchFamily="34" charset="0"/>
              </a:rPr>
              <a:t>Customer satisfaction is strongly linked to delivery speed and service efficiency.</a:t>
            </a:r>
            <a:endParaRPr lang="en-IN" sz="1400" dirty="0">
              <a:latin typeface="Arial" panose="020B0604020202020204" pitchFamily="34" charset="0"/>
              <a:cs typeface="Arial" panose="020B0604020202020204" pitchFamily="34" charset="0"/>
            </a:endParaRPr>
          </a:p>
        </p:txBody>
      </p:sp>
      <p:grpSp>
        <p:nvGrpSpPr>
          <p:cNvPr id="18" name="object 13">
            <a:extLst>
              <a:ext uri="{FF2B5EF4-FFF2-40B4-BE49-F238E27FC236}">
                <a16:creationId xmlns:a16="http://schemas.microsoft.com/office/drawing/2014/main" id="{F8A261A4-6753-2AEC-AEB7-BEAAE17AB4E0}"/>
              </a:ext>
            </a:extLst>
          </p:cNvPr>
          <p:cNvGrpSpPr/>
          <p:nvPr/>
        </p:nvGrpSpPr>
        <p:grpSpPr>
          <a:xfrm>
            <a:off x="6669709" y="4243733"/>
            <a:ext cx="5033009" cy="1231106"/>
            <a:chOff x="7058024" y="4286251"/>
            <a:chExt cx="4829493" cy="1257499"/>
          </a:xfrm>
        </p:grpSpPr>
        <p:sp>
          <p:nvSpPr>
            <p:cNvPr id="19" name="object 14">
              <a:extLst>
                <a:ext uri="{FF2B5EF4-FFF2-40B4-BE49-F238E27FC236}">
                  <a16:creationId xmlns:a16="http://schemas.microsoft.com/office/drawing/2014/main" id="{8132DB90-69B5-C61B-0069-BEB61E643369}"/>
                </a:ext>
              </a:extLst>
            </p:cNvPr>
            <p:cNvSpPr/>
            <p:nvPr/>
          </p:nvSpPr>
          <p:spPr>
            <a:xfrm>
              <a:off x="7081837" y="4286251"/>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dirty="0"/>
            </a:p>
          </p:txBody>
        </p:sp>
        <p:sp>
          <p:nvSpPr>
            <p:cNvPr id="20" name="object 15">
              <a:extLst>
                <a:ext uri="{FF2B5EF4-FFF2-40B4-BE49-F238E27FC236}">
                  <a16:creationId xmlns:a16="http://schemas.microsoft.com/office/drawing/2014/main" id="{69D66E2F-AED5-F82C-2ECE-09D7886E2920}"/>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sp>
        <p:nvSpPr>
          <p:cNvPr id="21" name="TextBox 20">
            <a:extLst>
              <a:ext uri="{FF2B5EF4-FFF2-40B4-BE49-F238E27FC236}">
                <a16:creationId xmlns:a16="http://schemas.microsoft.com/office/drawing/2014/main" id="{2E847F7D-AA7D-1E7A-5665-7C0F1E5698A1}"/>
              </a:ext>
            </a:extLst>
          </p:cNvPr>
          <p:cNvSpPr txBox="1"/>
          <p:nvPr/>
        </p:nvSpPr>
        <p:spPr>
          <a:xfrm>
            <a:off x="6941026" y="4342606"/>
            <a:ext cx="4488974" cy="954107"/>
          </a:xfrm>
          <a:prstGeom prst="rect">
            <a:avLst/>
          </a:prstGeom>
          <a:noFill/>
        </p:spPr>
        <p:txBody>
          <a:bodyPr wrap="square" rtlCol="0">
            <a:spAutoFit/>
          </a:bodyPr>
          <a:lstStyle/>
          <a:p>
            <a:pPr algn="just"/>
            <a:r>
              <a:rPr lang="en-US" sz="1400" b="1" cap="all" dirty="0">
                <a:latin typeface="Arial" panose="020B0604020202020204" pitchFamily="34" charset="0"/>
                <a:cs typeface="Arial" panose="020B0604020202020204" pitchFamily="34" charset="0"/>
              </a:rPr>
              <a:t>Business Insight</a:t>
            </a:r>
          </a:p>
          <a:p>
            <a:pPr algn="just"/>
            <a:r>
              <a:rPr lang="en-US" sz="1400" dirty="0">
                <a:latin typeface="Arial" panose="020B0604020202020204" pitchFamily="34" charset="0"/>
                <a:cs typeface="Arial" panose="020B0604020202020204" pitchFamily="34" charset="0"/>
              </a:rPr>
              <a:t>Optimizing delivery logistics and reducing shipping delays can significantly improve customer satisfaction ratings and overall brand reputation.</a:t>
            </a:r>
          </a:p>
        </p:txBody>
      </p:sp>
      <p:pic>
        <p:nvPicPr>
          <p:cNvPr id="3" name="Picture 2">
            <a:extLst>
              <a:ext uri="{FF2B5EF4-FFF2-40B4-BE49-F238E27FC236}">
                <a16:creationId xmlns:a16="http://schemas.microsoft.com/office/drawing/2014/main" id="{785CD5C1-C7A0-CE85-023B-4C0C3006E90F}"/>
              </a:ext>
            </a:extLst>
          </p:cNvPr>
          <p:cNvPicPr>
            <a:picLocks noChangeAspect="1"/>
          </p:cNvPicPr>
          <p:nvPr/>
        </p:nvPicPr>
        <p:blipFill>
          <a:blip r:embed="rId2"/>
          <a:srcRect l="1163"/>
          <a:stretch>
            <a:fillRect/>
          </a:stretch>
        </p:blipFill>
        <p:spPr>
          <a:xfrm>
            <a:off x="457200" y="1523206"/>
            <a:ext cx="6080794" cy="3951438"/>
          </a:xfrm>
          <a:prstGeom prst="rect">
            <a:avLst/>
          </a:prstGeom>
        </p:spPr>
      </p:pic>
    </p:spTree>
    <p:extLst>
      <p:ext uri="{BB962C8B-B14F-4D97-AF65-F5344CB8AC3E}">
        <p14:creationId xmlns:p14="http://schemas.microsoft.com/office/powerpoint/2010/main" val="4913433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F4793D-587A-4B1B-FAA7-9DAA9ACC47C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071449BA-5F19-BF20-D1B0-9943480A8B76}"/>
              </a:ext>
            </a:extLst>
          </p:cNvPr>
          <p:cNvSpPr txBox="1">
            <a:spLocks noGrp="1"/>
          </p:cNvSpPr>
          <p:nvPr>
            <p:ph type="title"/>
          </p:nvPr>
        </p:nvSpPr>
        <p:spPr>
          <a:xfrm>
            <a:off x="339024" y="380206"/>
            <a:ext cx="5147376" cy="428322"/>
          </a:xfrm>
          <a:prstGeom prst="rect">
            <a:avLst/>
          </a:prstGeom>
        </p:spPr>
        <p:txBody>
          <a:bodyPr vert="horz" wrap="square" lIns="0" tIns="12700" rIns="0" bIns="0" rtlCol="0">
            <a:spAutoFit/>
          </a:bodyPr>
          <a:lstStyle/>
          <a:p>
            <a:r>
              <a:rPr lang="en-US" dirty="0"/>
              <a:t>Power BI Dashboard</a:t>
            </a:r>
          </a:p>
        </p:txBody>
      </p:sp>
      <p:pic>
        <p:nvPicPr>
          <p:cNvPr id="3" name="Picture 2">
            <a:extLst>
              <a:ext uri="{FF2B5EF4-FFF2-40B4-BE49-F238E27FC236}">
                <a16:creationId xmlns:a16="http://schemas.microsoft.com/office/drawing/2014/main" id="{70FFCB1F-AA16-45AF-A7A8-D53AACEA0C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913607"/>
            <a:ext cx="11353800" cy="5867399"/>
          </a:xfrm>
          <a:prstGeom prst="rect">
            <a:avLst/>
          </a:prstGeom>
        </p:spPr>
      </p:pic>
    </p:spTree>
    <p:extLst>
      <p:ext uri="{BB962C8B-B14F-4D97-AF65-F5344CB8AC3E}">
        <p14:creationId xmlns:p14="http://schemas.microsoft.com/office/powerpoint/2010/main" val="31215668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6C3705-D027-9CF6-C588-D5B83770D6B5}"/>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371E178D-2320-8892-9F8D-8998BA309C5B}"/>
              </a:ext>
            </a:extLst>
          </p:cNvPr>
          <p:cNvSpPr txBox="1">
            <a:spLocks noGrp="1"/>
          </p:cNvSpPr>
          <p:nvPr>
            <p:ph type="title"/>
          </p:nvPr>
        </p:nvSpPr>
        <p:spPr>
          <a:xfrm>
            <a:off x="339024" y="380206"/>
            <a:ext cx="5147376" cy="428322"/>
          </a:xfrm>
          <a:prstGeom prst="rect">
            <a:avLst/>
          </a:prstGeom>
        </p:spPr>
        <p:txBody>
          <a:bodyPr vert="horz" wrap="square" lIns="0" tIns="12700" rIns="0" bIns="0" rtlCol="0">
            <a:spAutoFit/>
          </a:bodyPr>
          <a:lstStyle/>
          <a:p>
            <a:r>
              <a:rPr lang="en-US" dirty="0"/>
              <a:t>SQL Queries Used</a:t>
            </a:r>
          </a:p>
        </p:txBody>
      </p:sp>
      <p:sp>
        <p:nvSpPr>
          <p:cNvPr id="14" name="object 22">
            <a:extLst>
              <a:ext uri="{FF2B5EF4-FFF2-40B4-BE49-F238E27FC236}">
                <a16:creationId xmlns:a16="http://schemas.microsoft.com/office/drawing/2014/main" id="{3E72F834-5192-709E-5B1D-A829B0982A14}"/>
              </a:ext>
            </a:extLst>
          </p:cNvPr>
          <p:cNvSpPr txBox="1">
            <a:spLocks noGrp="1"/>
          </p:cNvSpPr>
          <p:nvPr>
            <p:ph type="dt" sz="half" idx="6"/>
          </p:nvPr>
        </p:nvSpPr>
        <p:spPr>
          <a:xfrm>
            <a:off x="10106868" y="6501376"/>
            <a:ext cx="1793240" cy="184666"/>
          </a:xfrm>
          <a:prstGeom prst="rect">
            <a:avLst/>
          </a:prstGeom>
        </p:spPr>
        <p:txBody>
          <a:bodyPr vert="horz" wrap="square" lIns="0" tIns="22860" rIns="0" bIns="0" rtlCol="0">
            <a:spAutoFit/>
          </a:bodyPr>
          <a:lstStyle/>
          <a:p>
            <a:pPr marL="12700">
              <a:lnSpc>
                <a:spcPct val="100000"/>
              </a:lnSpc>
              <a:spcBef>
                <a:spcPts val="180"/>
              </a:spcBef>
            </a:pPr>
            <a:r>
              <a:rPr lang="en-US" spc="-10" dirty="0"/>
              <a:t>Olist Store Analysis</a:t>
            </a:r>
          </a:p>
        </p:txBody>
      </p:sp>
      <p:sp>
        <p:nvSpPr>
          <p:cNvPr id="2" name="TextBox 1">
            <a:extLst>
              <a:ext uri="{FF2B5EF4-FFF2-40B4-BE49-F238E27FC236}">
                <a16:creationId xmlns:a16="http://schemas.microsoft.com/office/drawing/2014/main" id="{241DEDF4-5C65-4A06-3AD8-3199BBC0101A}"/>
              </a:ext>
            </a:extLst>
          </p:cNvPr>
          <p:cNvSpPr txBox="1"/>
          <p:nvPr/>
        </p:nvSpPr>
        <p:spPr>
          <a:xfrm>
            <a:off x="339024" y="1066006"/>
            <a:ext cx="11395776" cy="1815882"/>
          </a:xfrm>
          <a:prstGeom prst="rect">
            <a:avLst/>
          </a:prstGeom>
          <a:noFill/>
          <a:ln>
            <a:solidFill>
              <a:srgbClr val="FFC000"/>
            </a:solidFill>
          </a:ln>
        </p:spPr>
        <p:txBody>
          <a:bodyPr wrap="square" rtlCol="0">
            <a:spAutoFit/>
          </a:bodyPr>
          <a:lstStyle/>
          <a:p>
            <a:r>
              <a:rPr lang="en-US" sz="1400" b="1" dirty="0">
                <a:latin typeface="Arial" panose="020B0604020202020204" pitchFamily="34" charset="0"/>
                <a:cs typeface="Arial" panose="020B0604020202020204" pitchFamily="34" charset="0"/>
              </a:rPr>
              <a:t>#KPI1 </a:t>
            </a:r>
          </a:p>
          <a:p>
            <a:r>
              <a:rPr lang="en-US" sz="1400" dirty="0">
                <a:latin typeface="Arial" panose="020B0604020202020204" pitchFamily="34" charset="0"/>
                <a:cs typeface="Arial" panose="020B0604020202020204" pitchFamily="34" charset="0"/>
              </a:rPr>
              <a:t>create table kpi1 as SELECT</a:t>
            </a:r>
          </a:p>
          <a:p>
            <a:r>
              <a:rPr lang="en-US" sz="1400" dirty="0">
                <a:latin typeface="Arial" panose="020B0604020202020204" pitchFamily="34" charset="0"/>
                <a:cs typeface="Arial" panose="020B0604020202020204" pitchFamily="34" charset="0"/>
              </a:rPr>
              <a:t>CONCAT(ROUND(COUNT(CASE WHEN WEEKDAY(</a:t>
            </a:r>
            <a:r>
              <a:rPr lang="en-US" sz="1400" dirty="0" err="1">
                <a:latin typeface="Arial" panose="020B0604020202020204" pitchFamily="34" charset="0"/>
                <a:cs typeface="Arial" panose="020B0604020202020204" pitchFamily="34" charset="0"/>
              </a:rPr>
              <a:t>order_purchase_timestamp</a:t>
            </a:r>
            <a:r>
              <a:rPr lang="en-US" sz="1400" dirty="0">
                <a:latin typeface="Arial" panose="020B0604020202020204" pitchFamily="34" charset="0"/>
                <a:cs typeface="Arial" panose="020B0604020202020204" pitchFamily="34" charset="0"/>
              </a:rPr>
              <a:t>) &lt; 5 THEN 1 END)*100 / COUNT(*),0),</a:t>
            </a:r>
          </a:p>
          <a:p>
            <a:r>
              <a:rPr lang="en-US" sz="1400" dirty="0">
                <a:latin typeface="Arial" panose="020B0604020202020204" pitchFamily="34" charset="0"/>
                <a:cs typeface="Arial" panose="020B0604020202020204" pitchFamily="34" charset="0"/>
              </a:rPr>
              <a:t>'%') AS </a:t>
            </a:r>
            <a:r>
              <a:rPr lang="en-US" sz="1400" dirty="0" err="1">
                <a:latin typeface="Arial" panose="020B0604020202020204" pitchFamily="34" charset="0"/>
                <a:cs typeface="Arial" panose="020B0604020202020204" pitchFamily="34" charset="0"/>
              </a:rPr>
              <a:t>weekday_percent</a:t>
            </a:r>
            <a:r>
              <a:rPr lang="en-US" sz="1400" dirty="0">
                <a:latin typeface="Arial" panose="020B0604020202020204" pitchFamily="34" charset="0"/>
                <a:cs typeface="Arial" panose="020B0604020202020204" pitchFamily="34" charset="0"/>
              </a:rPr>
              <a:t>,</a:t>
            </a:r>
          </a:p>
          <a:p>
            <a:r>
              <a:rPr lang="en-US" sz="1400" dirty="0">
                <a:latin typeface="Arial" panose="020B0604020202020204" pitchFamily="34" charset="0"/>
                <a:cs typeface="Arial" panose="020B0604020202020204" pitchFamily="34" charset="0"/>
              </a:rPr>
              <a:t>CONCAT(ROUND(COUNT(CASE WHEN WEEKDAY(</a:t>
            </a:r>
            <a:r>
              <a:rPr lang="en-US" sz="1400" dirty="0" err="1">
                <a:latin typeface="Arial" panose="020B0604020202020204" pitchFamily="34" charset="0"/>
                <a:cs typeface="Arial" panose="020B0604020202020204" pitchFamily="34" charset="0"/>
              </a:rPr>
              <a:t>order_purchase_timestamp</a:t>
            </a:r>
            <a:r>
              <a:rPr lang="en-US" sz="1400" dirty="0">
                <a:latin typeface="Arial" panose="020B0604020202020204" pitchFamily="34" charset="0"/>
                <a:cs typeface="Arial" panose="020B0604020202020204" pitchFamily="34" charset="0"/>
              </a:rPr>
              <a:t>) &gt;= 5 THEN 1 END)*100 / COUNT(*),0),</a:t>
            </a:r>
          </a:p>
          <a:p>
            <a:r>
              <a:rPr lang="en-US" sz="1400" dirty="0">
                <a:latin typeface="Arial" panose="020B0604020202020204" pitchFamily="34" charset="0"/>
                <a:cs typeface="Arial" panose="020B0604020202020204" pitchFamily="34" charset="0"/>
              </a:rPr>
              <a:t>'%') AS </a:t>
            </a:r>
            <a:r>
              <a:rPr lang="en-US" sz="1400" dirty="0" err="1">
                <a:latin typeface="Arial" panose="020B0604020202020204" pitchFamily="34" charset="0"/>
                <a:cs typeface="Arial" panose="020B0604020202020204" pitchFamily="34" charset="0"/>
              </a:rPr>
              <a:t>weekend_percent</a:t>
            </a:r>
            <a:r>
              <a:rPr lang="en-US" sz="1400" dirty="0">
                <a:latin typeface="Arial" panose="020B0604020202020204" pitchFamily="34" charset="0"/>
                <a:cs typeface="Arial" panose="020B0604020202020204" pitchFamily="34" charset="0"/>
              </a:rPr>
              <a:t> FROM orders;</a:t>
            </a:r>
          </a:p>
          <a:p>
            <a:endParaRPr lang="en-US" sz="1400" dirty="0">
              <a:latin typeface="Arial" panose="020B0604020202020204" pitchFamily="34" charset="0"/>
              <a:cs typeface="Arial" panose="020B0604020202020204" pitchFamily="34" charset="0"/>
            </a:endParaRPr>
          </a:p>
          <a:p>
            <a:r>
              <a:rPr lang="en-IN" sz="1400" dirty="0">
                <a:latin typeface="Arial" panose="020B0604020202020204" pitchFamily="34" charset="0"/>
                <a:cs typeface="Arial" panose="020B0604020202020204" pitchFamily="34" charset="0"/>
              </a:rPr>
              <a:t>select * from kpi1;</a:t>
            </a:r>
          </a:p>
        </p:txBody>
      </p:sp>
      <p:sp>
        <p:nvSpPr>
          <p:cNvPr id="3" name="TextBox 2">
            <a:extLst>
              <a:ext uri="{FF2B5EF4-FFF2-40B4-BE49-F238E27FC236}">
                <a16:creationId xmlns:a16="http://schemas.microsoft.com/office/drawing/2014/main" id="{4E5D3BB3-263F-BAC8-133B-222A9A7EB0F2}"/>
              </a:ext>
            </a:extLst>
          </p:cNvPr>
          <p:cNvSpPr txBox="1"/>
          <p:nvPr/>
        </p:nvSpPr>
        <p:spPr>
          <a:xfrm>
            <a:off x="339024" y="3428206"/>
            <a:ext cx="11395776" cy="1600438"/>
          </a:xfrm>
          <a:prstGeom prst="rect">
            <a:avLst/>
          </a:prstGeom>
          <a:noFill/>
          <a:ln>
            <a:solidFill>
              <a:srgbClr val="FFC000"/>
            </a:solidFill>
          </a:ln>
        </p:spPr>
        <p:txBody>
          <a:bodyPr wrap="square" rtlCol="0">
            <a:spAutoFit/>
          </a:bodyPr>
          <a:lstStyle/>
          <a:p>
            <a:r>
              <a:rPr lang="en-US" sz="1400" b="1" dirty="0">
                <a:latin typeface="Arial" panose="020B0604020202020204" pitchFamily="34" charset="0"/>
                <a:cs typeface="Arial" panose="020B0604020202020204" pitchFamily="34" charset="0"/>
              </a:rPr>
              <a:t>#KPI2 </a:t>
            </a:r>
          </a:p>
          <a:p>
            <a:r>
              <a:rPr lang="en-US" sz="1400" dirty="0">
                <a:latin typeface="Arial" panose="020B0604020202020204" pitchFamily="34" charset="0"/>
                <a:cs typeface="Arial" panose="020B0604020202020204" pitchFamily="34" charset="0"/>
              </a:rPr>
              <a:t>create table kpi2 as SELECT </a:t>
            </a:r>
          </a:p>
          <a:p>
            <a:r>
              <a:rPr lang="en-US" sz="1400" dirty="0" err="1">
                <a:latin typeface="Arial" panose="020B0604020202020204" pitchFamily="34" charset="0"/>
                <a:cs typeface="Arial" panose="020B0604020202020204" pitchFamily="34" charset="0"/>
              </a:rPr>
              <a:t>p.payment_type,CONCAT</a:t>
            </a:r>
            <a:r>
              <a:rPr lang="en-US" sz="1400" dirty="0">
                <a:latin typeface="Arial" panose="020B0604020202020204" pitchFamily="34" charset="0"/>
                <a:cs typeface="Arial" panose="020B0604020202020204" pitchFamily="34" charset="0"/>
              </a:rPr>
              <a:t>(ROUND(COUNT(*)/1000,1),'K') AS </a:t>
            </a:r>
            <a:r>
              <a:rPr lang="en-US" sz="1400" dirty="0" err="1">
                <a:latin typeface="Arial" panose="020B0604020202020204" pitchFamily="34" charset="0"/>
                <a:cs typeface="Arial" panose="020B0604020202020204" pitchFamily="34" charset="0"/>
              </a:rPr>
              <a:t>no_of_orders</a:t>
            </a:r>
            <a:r>
              <a:rPr lang="en-US" sz="1400" dirty="0">
                <a:latin typeface="Arial" panose="020B0604020202020204" pitchFamily="34" charset="0"/>
                <a:cs typeface="Arial" panose="020B0604020202020204" pitchFamily="34" charset="0"/>
              </a:rPr>
              <a:t> FROM </a:t>
            </a:r>
            <a:r>
              <a:rPr lang="en-US" sz="1400" dirty="0" err="1">
                <a:latin typeface="Arial" panose="020B0604020202020204" pitchFamily="34" charset="0"/>
                <a:cs typeface="Arial" panose="020B0604020202020204" pitchFamily="34" charset="0"/>
              </a:rPr>
              <a:t>order_reviews</a:t>
            </a:r>
            <a:r>
              <a:rPr lang="en-US" sz="1400" dirty="0">
                <a:latin typeface="Arial" panose="020B0604020202020204" pitchFamily="34" charset="0"/>
                <a:cs typeface="Arial" panose="020B0604020202020204" pitchFamily="34" charset="0"/>
              </a:rPr>
              <a:t> r</a:t>
            </a:r>
          </a:p>
          <a:p>
            <a:r>
              <a:rPr lang="en-US" sz="1400" dirty="0">
                <a:latin typeface="Arial" panose="020B0604020202020204" pitchFamily="34" charset="0"/>
                <a:cs typeface="Arial" panose="020B0604020202020204" pitchFamily="34" charset="0"/>
              </a:rPr>
              <a:t>JOIN </a:t>
            </a:r>
            <a:r>
              <a:rPr lang="en-US" sz="1400" dirty="0" err="1">
                <a:latin typeface="Arial" panose="020B0604020202020204" pitchFamily="34" charset="0"/>
                <a:cs typeface="Arial" panose="020B0604020202020204" pitchFamily="34" charset="0"/>
              </a:rPr>
              <a:t>order_payments</a:t>
            </a:r>
            <a:r>
              <a:rPr lang="en-US" sz="1400" dirty="0">
                <a:latin typeface="Arial" panose="020B0604020202020204" pitchFamily="34" charset="0"/>
                <a:cs typeface="Arial" panose="020B0604020202020204" pitchFamily="34" charset="0"/>
              </a:rPr>
              <a:t> p ON </a:t>
            </a:r>
            <a:r>
              <a:rPr lang="en-US" sz="1400" dirty="0" err="1">
                <a:latin typeface="Arial" panose="020B0604020202020204" pitchFamily="34" charset="0"/>
                <a:cs typeface="Arial" panose="020B0604020202020204" pitchFamily="34" charset="0"/>
              </a:rPr>
              <a:t>r.order_id</a:t>
            </a:r>
            <a:r>
              <a:rPr lang="en-US" sz="1400" dirty="0">
                <a:latin typeface="Arial" panose="020B0604020202020204" pitchFamily="34" charset="0"/>
                <a:cs typeface="Arial" panose="020B0604020202020204" pitchFamily="34" charset="0"/>
              </a:rPr>
              <a:t> = </a:t>
            </a:r>
            <a:r>
              <a:rPr lang="en-US" sz="1400" dirty="0" err="1">
                <a:latin typeface="Arial" panose="020B0604020202020204" pitchFamily="34" charset="0"/>
                <a:cs typeface="Arial" panose="020B0604020202020204" pitchFamily="34" charset="0"/>
              </a:rPr>
              <a:t>p.order_id</a:t>
            </a:r>
            <a:r>
              <a:rPr lang="en-US" sz="1400" dirty="0">
                <a:latin typeface="Arial" panose="020B0604020202020204" pitchFamily="34" charset="0"/>
                <a:cs typeface="Arial" panose="020B0604020202020204" pitchFamily="34" charset="0"/>
              </a:rPr>
              <a:t> WHERE </a:t>
            </a:r>
            <a:r>
              <a:rPr lang="en-US" sz="1400" dirty="0" err="1">
                <a:latin typeface="Arial" panose="020B0604020202020204" pitchFamily="34" charset="0"/>
                <a:cs typeface="Arial" panose="020B0604020202020204" pitchFamily="34" charset="0"/>
              </a:rPr>
              <a:t>r.review_score</a:t>
            </a:r>
            <a:r>
              <a:rPr lang="en-US" sz="1400" dirty="0">
                <a:latin typeface="Arial" panose="020B0604020202020204" pitchFamily="34" charset="0"/>
                <a:cs typeface="Arial" panose="020B0604020202020204" pitchFamily="34" charset="0"/>
              </a:rPr>
              <a:t> = 5</a:t>
            </a:r>
          </a:p>
          <a:p>
            <a:r>
              <a:rPr lang="en-US" sz="1400" dirty="0">
                <a:latin typeface="Arial" panose="020B0604020202020204" pitchFamily="34" charset="0"/>
                <a:cs typeface="Arial" panose="020B0604020202020204" pitchFamily="34" charset="0"/>
              </a:rPr>
              <a:t>GROUP BY </a:t>
            </a:r>
            <a:r>
              <a:rPr lang="en-US" sz="1400" dirty="0" err="1">
                <a:latin typeface="Arial" panose="020B0604020202020204" pitchFamily="34" charset="0"/>
                <a:cs typeface="Arial" panose="020B0604020202020204" pitchFamily="34" charset="0"/>
              </a:rPr>
              <a:t>p.payment_type</a:t>
            </a:r>
            <a:r>
              <a:rPr lang="en-US" sz="1400" dirty="0">
                <a:latin typeface="Arial" panose="020B0604020202020204" pitchFamily="34" charset="0"/>
                <a:cs typeface="Arial" panose="020B0604020202020204" pitchFamily="34" charset="0"/>
              </a:rPr>
              <a:t> ORDER BY COUNT(*) DESC;</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select * from kpi2;</a:t>
            </a:r>
            <a:endParaRPr lang="en-IN"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8434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6409A0-EC5F-9CAA-04B3-7D605EEC87A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1717ACEC-E724-280C-F1A3-1838C96056D8}"/>
              </a:ext>
            </a:extLst>
          </p:cNvPr>
          <p:cNvSpPr txBox="1">
            <a:spLocks noGrp="1"/>
          </p:cNvSpPr>
          <p:nvPr>
            <p:ph type="title"/>
          </p:nvPr>
        </p:nvSpPr>
        <p:spPr>
          <a:xfrm>
            <a:off x="339024" y="380206"/>
            <a:ext cx="5147376" cy="428322"/>
          </a:xfrm>
          <a:prstGeom prst="rect">
            <a:avLst/>
          </a:prstGeom>
        </p:spPr>
        <p:txBody>
          <a:bodyPr vert="horz" wrap="square" lIns="0" tIns="12700" rIns="0" bIns="0" rtlCol="0">
            <a:spAutoFit/>
          </a:bodyPr>
          <a:lstStyle/>
          <a:p>
            <a:r>
              <a:rPr lang="en-US" dirty="0"/>
              <a:t>SQL Queries Used</a:t>
            </a:r>
          </a:p>
        </p:txBody>
      </p:sp>
      <p:sp>
        <p:nvSpPr>
          <p:cNvPr id="14" name="object 22">
            <a:extLst>
              <a:ext uri="{FF2B5EF4-FFF2-40B4-BE49-F238E27FC236}">
                <a16:creationId xmlns:a16="http://schemas.microsoft.com/office/drawing/2014/main" id="{0E694367-7916-5289-468E-6B3D02A0DA64}"/>
              </a:ext>
            </a:extLst>
          </p:cNvPr>
          <p:cNvSpPr txBox="1">
            <a:spLocks noGrp="1"/>
          </p:cNvSpPr>
          <p:nvPr>
            <p:ph type="dt" sz="half" idx="6"/>
          </p:nvPr>
        </p:nvSpPr>
        <p:spPr>
          <a:xfrm>
            <a:off x="10106868" y="6501376"/>
            <a:ext cx="1793240" cy="184666"/>
          </a:xfrm>
          <a:prstGeom prst="rect">
            <a:avLst/>
          </a:prstGeom>
        </p:spPr>
        <p:txBody>
          <a:bodyPr vert="horz" wrap="square" lIns="0" tIns="22860" rIns="0" bIns="0" rtlCol="0">
            <a:spAutoFit/>
          </a:bodyPr>
          <a:lstStyle/>
          <a:p>
            <a:pPr marL="12700">
              <a:lnSpc>
                <a:spcPct val="100000"/>
              </a:lnSpc>
              <a:spcBef>
                <a:spcPts val="180"/>
              </a:spcBef>
            </a:pPr>
            <a:r>
              <a:rPr lang="en-US" spc="-10" dirty="0"/>
              <a:t>Olist Store Analysis</a:t>
            </a:r>
          </a:p>
        </p:txBody>
      </p:sp>
      <p:sp>
        <p:nvSpPr>
          <p:cNvPr id="2" name="TextBox 1">
            <a:extLst>
              <a:ext uri="{FF2B5EF4-FFF2-40B4-BE49-F238E27FC236}">
                <a16:creationId xmlns:a16="http://schemas.microsoft.com/office/drawing/2014/main" id="{9FCD837A-BD32-3CC9-34E0-23E847DD6732}"/>
              </a:ext>
            </a:extLst>
          </p:cNvPr>
          <p:cNvSpPr txBox="1"/>
          <p:nvPr/>
        </p:nvSpPr>
        <p:spPr>
          <a:xfrm>
            <a:off x="339024" y="1066006"/>
            <a:ext cx="11395776" cy="2246769"/>
          </a:xfrm>
          <a:prstGeom prst="rect">
            <a:avLst/>
          </a:prstGeom>
          <a:noFill/>
          <a:ln>
            <a:solidFill>
              <a:srgbClr val="FFC000"/>
            </a:solidFill>
          </a:ln>
        </p:spPr>
        <p:txBody>
          <a:bodyPr wrap="square" rtlCol="0">
            <a:spAutoFit/>
          </a:bodyPr>
          <a:lstStyle/>
          <a:p>
            <a:r>
              <a:rPr lang="en-US" sz="1400" b="1" dirty="0">
                <a:latin typeface="Arial" panose="020B0604020202020204" pitchFamily="34" charset="0"/>
                <a:cs typeface="Arial" panose="020B0604020202020204" pitchFamily="34" charset="0"/>
              </a:rPr>
              <a:t>#KPI3 </a:t>
            </a:r>
          </a:p>
          <a:p>
            <a:r>
              <a:rPr lang="en-US" sz="1400" dirty="0">
                <a:latin typeface="Arial" panose="020B0604020202020204" pitchFamily="34" charset="0"/>
                <a:cs typeface="Arial" panose="020B0604020202020204" pitchFamily="34" charset="0"/>
              </a:rPr>
              <a:t>create table  kpi3 as SELECT </a:t>
            </a:r>
          </a:p>
          <a:p>
            <a:r>
              <a:rPr lang="en-US" sz="1400" dirty="0" err="1">
                <a:latin typeface="Arial" panose="020B0604020202020204" pitchFamily="34" charset="0"/>
                <a:cs typeface="Arial" panose="020B0604020202020204" pitchFamily="34" charset="0"/>
              </a:rPr>
              <a:t>pt.product_category_name_english</a:t>
            </a:r>
            <a:r>
              <a:rPr lang="en-US" sz="1400" dirty="0">
                <a:latin typeface="Arial" panose="020B0604020202020204" pitchFamily="34" charset="0"/>
                <a:cs typeface="Arial" panose="020B0604020202020204" pitchFamily="34" charset="0"/>
              </a:rPr>
              <a:t> AS </a:t>
            </a:r>
            <a:r>
              <a:rPr lang="en-US" sz="1400" dirty="0" err="1">
                <a:latin typeface="Arial" panose="020B0604020202020204" pitchFamily="34" charset="0"/>
                <a:cs typeface="Arial" panose="020B0604020202020204" pitchFamily="34" charset="0"/>
              </a:rPr>
              <a:t>category,ROUND</a:t>
            </a:r>
            <a:r>
              <a:rPr lang="en-US" sz="1400" dirty="0">
                <a:latin typeface="Arial" panose="020B0604020202020204" pitchFamily="34" charset="0"/>
                <a:cs typeface="Arial" panose="020B0604020202020204" pitchFamily="34" charset="0"/>
              </a:rPr>
              <a:t>(AVG(</a:t>
            </a:r>
            <a:r>
              <a:rPr lang="en-US" sz="1400" dirty="0" err="1">
                <a:latin typeface="Arial" panose="020B0604020202020204" pitchFamily="34" charset="0"/>
                <a:cs typeface="Arial" panose="020B0604020202020204" pitchFamily="34" charset="0"/>
              </a:rPr>
              <a:t>o.shipping_days</a:t>
            </a:r>
            <a:r>
              <a:rPr lang="en-US" sz="1400" dirty="0">
                <a:latin typeface="Arial" panose="020B0604020202020204" pitchFamily="34" charset="0"/>
                <a:cs typeface="Arial" panose="020B0604020202020204" pitchFamily="34" charset="0"/>
              </a:rPr>
              <a:t>),0) AS </a:t>
            </a:r>
            <a:r>
              <a:rPr lang="en-US" sz="1400" dirty="0" err="1">
                <a:latin typeface="Arial" panose="020B0604020202020204" pitchFamily="34" charset="0"/>
                <a:cs typeface="Arial" panose="020B0604020202020204" pitchFamily="34" charset="0"/>
              </a:rPr>
              <a:t>average_shipping_days</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FROM products p JOIN </a:t>
            </a:r>
            <a:r>
              <a:rPr lang="en-US" sz="1400" dirty="0" err="1">
                <a:latin typeface="Arial" panose="020B0604020202020204" pitchFamily="34" charset="0"/>
                <a:cs typeface="Arial" panose="020B0604020202020204" pitchFamily="34" charset="0"/>
              </a:rPr>
              <a:t>product_category_translation</a:t>
            </a:r>
            <a:r>
              <a:rPr lang="en-US" sz="1400" dirty="0">
                <a:latin typeface="Arial" panose="020B0604020202020204" pitchFamily="34" charset="0"/>
                <a:cs typeface="Arial" panose="020B0604020202020204" pitchFamily="34" charset="0"/>
              </a:rPr>
              <a:t> pt ON </a:t>
            </a:r>
            <a:r>
              <a:rPr lang="en-US" sz="1400" dirty="0" err="1">
                <a:latin typeface="Arial" panose="020B0604020202020204" pitchFamily="34" charset="0"/>
                <a:cs typeface="Arial" panose="020B0604020202020204" pitchFamily="34" charset="0"/>
              </a:rPr>
              <a:t>p.product_category_name</a:t>
            </a:r>
            <a:r>
              <a:rPr lang="en-US" sz="1400" dirty="0">
                <a:latin typeface="Arial" panose="020B0604020202020204" pitchFamily="34" charset="0"/>
                <a:cs typeface="Arial" panose="020B0604020202020204" pitchFamily="34" charset="0"/>
              </a:rPr>
              <a:t> = </a:t>
            </a:r>
            <a:r>
              <a:rPr lang="en-US" sz="1400" dirty="0" err="1">
                <a:latin typeface="Arial" panose="020B0604020202020204" pitchFamily="34" charset="0"/>
                <a:cs typeface="Arial" panose="020B0604020202020204" pitchFamily="34" charset="0"/>
              </a:rPr>
              <a:t>pt.product_category_name</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JOIN </a:t>
            </a:r>
            <a:r>
              <a:rPr lang="en-US" sz="1400" dirty="0" err="1">
                <a:latin typeface="Arial" panose="020B0604020202020204" pitchFamily="34" charset="0"/>
                <a:cs typeface="Arial" panose="020B0604020202020204" pitchFamily="34" charset="0"/>
              </a:rPr>
              <a:t>order_items</a:t>
            </a:r>
            <a:r>
              <a:rPr lang="en-US" sz="1400" dirty="0">
                <a:latin typeface="Arial" panose="020B0604020202020204" pitchFamily="34" charset="0"/>
                <a:cs typeface="Arial" panose="020B0604020202020204" pitchFamily="34" charset="0"/>
              </a:rPr>
              <a:t> oi ON </a:t>
            </a:r>
            <a:r>
              <a:rPr lang="en-US" sz="1400" dirty="0" err="1">
                <a:latin typeface="Arial" panose="020B0604020202020204" pitchFamily="34" charset="0"/>
                <a:cs typeface="Arial" panose="020B0604020202020204" pitchFamily="34" charset="0"/>
              </a:rPr>
              <a:t>p.product_id</a:t>
            </a:r>
            <a:r>
              <a:rPr lang="en-US" sz="1400" dirty="0">
                <a:latin typeface="Arial" panose="020B0604020202020204" pitchFamily="34" charset="0"/>
                <a:cs typeface="Arial" panose="020B0604020202020204" pitchFamily="34" charset="0"/>
              </a:rPr>
              <a:t> = </a:t>
            </a:r>
            <a:r>
              <a:rPr lang="en-US" sz="1400" dirty="0" err="1">
                <a:latin typeface="Arial" panose="020B0604020202020204" pitchFamily="34" charset="0"/>
                <a:cs typeface="Arial" panose="020B0604020202020204" pitchFamily="34" charset="0"/>
              </a:rPr>
              <a:t>oi.product_id</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JOIN orders o ON </a:t>
            </a:r>
            <a:r>
              <a:rPr lang="en-US" sz="1400" dirty="0" err="1">
                <a:latin typeface="Arial" panose="020B0604020202020204" pitchFamily="34" charset="0"/>
                <a:cs typeface="Arial" panose="020B0604020202020204" pitchFamily="34" charset="0"/>
              </a:rPr>
              <a:t>oi.order_id</a:t>
            </a:r>
            <a:r>
              <a:rPr lang="en-US" sz="1400" dirty="0">
                <a:latin typeface="Arial" panose="020B0604020202020204" pitchFamily="34" charset="0"/>
                <a:cs typeface="Arial" panose="020B0604020202020204" pitchFamily="34" charset="0"/>
              </a:rPr>
              <a:t> = </a:t>
            </a:r>
            <a:r>
              <a:rPr lang="en-US" sz="1400" dirty="0" err="1">
                <a:latin typeface="Arial" panose="020B0604020202020204" pitchFamily="34" charset="0"/>
                <a:cs typeface="Arial" panose="020B0604020202020204" pitchFamily="34" charset="0"/>
              </a:rPr>
              <a:t>o.order_id</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WHERE </a:t>
            </a:r>
            <a:r>
              <a:rPr lang="en-US" sz="1400" dirty="0" err="1">
                <a:latin typeface="Arial" panose="020B0604020202020204" pitchFamily="34" charset="0"/>
                <a:cs typeface="Arial" panose="020B0604020202020204" pitchFamily="34" charset="0"/>
              </a:rPr>
              <a:t>pt.product_category_name_english</a:t>
            </a:r>
            <a:r>
              <a:rPr lang="en-US" sz="1400" dirty="0">
                <a:latin typeface="Arial" panose="020B0604020202020204" pitchFamily="34" charset="0"/>
                <a:cs typeface="Arial" panose="020B0604020202020204" pitchFamily="34" charset="0"/>
              </a:rPr>
              <a:t> LIKE '%pet%’</a:t>
            </a:r>
          </a:p>
          <a:p>
            <a:r>
              <a:rPr lang="en-US" sz="1400" dirty="0">
                <a:latin typeface="Arial" panose="020B0604020202020204" pitchFamily="34" charset="0"/>
                <a:cs typeface="Arial" panose="020B0604020202020204" pitchFamily="34" charset="0"/>
              </a:rPr>
              <a:t>GROUP BY category;</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select * from kpi3;</a:t>
            </a:r>
            <a:endParaRPr lang="en-IN" sz="14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81A73974-C8D6-ADDE-1466-5E84FDDDE277}"/>
              </a:ext>
            </a:extLst>
          </p:cNvPr>
          <p:cNvSpPr txBox="1"/>
          <p:nvPr/>
        </p:nvSpPr>
        <p:spPr>
          <a:xfrm>
            <a:off x="339024" y="3428206"/>
            <a:ext cx="11395776" cy="3108543"/>
          </a:xfrm>
          <a:prstGeom prst="rect">
            <a:avLst/>
          </a:prstGeom>
          <a:noFill/>
          <a:ln>
            <a:solidFill>
              <a:srgbClr val="FFC000"/>
            </a:solidFill>
          </a:ln>
        </p:spPr>
        <p:txBody>
          <a:bodyPr wrap="square" rtlCol="0">
            <a:spAutoFit/>
          </a:bodyPr>
          <a:lstStyle/>
          <a:p>
            <a:r>
              <a:rPr lang="en-US" sz="1400" b="1" dirty="0">
                <a:latin typeface="Arial" panose="020B0604020202020204" pitchFamily="34" charset="0"/>
                <a:cs typeface="Arial" panose="020B0604020202020204" pitchFamily="34" charset="0"/>
              </a:rPr>
              <a:t>#KPI4 </a:t>
            </a:r>
          </a:p>
          <a:p>
            <a:r>
              <a:rPr lang="en-US" sz="1400" dirty="0">
                <a:latin typeface="Arial" panose="020B0604020202020204" pitchFamily="34" charset="0"/>
                <a:cs typeface="Arial" panose="020B0604020202020204" pitchFamily="34" charset="0"/>
              </a:rPr>
              <a:t>create table kpi4 as SELECT</a:t>
            </a:r>
          </a:p>
          <a:p>
            <a:r>
              <a:rPr lang="en-US" sz="1400" dirty="0">
                <a:latin typeface="Arial" panose="020B0604020202020204" pitchFamily="34" charset="0"/>
                <a:cs typeface="Arial" panose="020B0604020202020204" pitchFamily="34" charset="0"/>
              </a:rPr>
              <a:t>(    SELECT ROUND(AVG(</a:t>
            </a:r>
            <a:r>
              <a:rPr lang="en-US" sz="1400" dirty="0" err="1">
                <a:latin typeface="Arial" panose="020B0604020202020204" pitchFamily="34" charset="0"/>
                <a:cs typeface="Arial" panose="020B0604020202020204" pitchFamily="34" charset="0"/>
              </a:rPr>
              <a:t>p.payment_value</a:t>
            </a:r>
            <a:r>
              <a:rPr lang="en-US" sz="1400" dirty="0">
                <a:latin typeface="Arial" panose="020B0604020202020204" pitchFamily="34" charset="0"/>
                <a:cs typeface="Arial" panose="020B0604020202020204" pitchFamily="34" charset="0"/>
              </a:rPr>
              <a:t>),0)</a:t>
            </a:r>
          </a:p>
          <a:p>
            <a:r>
              <a:rPr lang="en-US" sz="1400" dirty="0">
                <a:latin typeface="Arial" panose="020B0604020202020204" pitchFamily="34" charset="0"/>
                <a:cs typeface="Arial" panose="020B0604020202020204" pitchFamily="34" charset="0"/>
              </a:rPr>
              <a:t>    FROM </a:t>
            </a:r>
            <a:r>
              <a:rPr lang="en-US" sz="1400" dirty="0" err="1">
                <a:latin typeface="Arial" panose="020B0604020202020204" pitchFamily="34" charset="0"/>
                <a:cs typeface="Arial" panose="020B0604020202020204" pitchFamily="34" charset="0"/>
              </a:rPr>
              <a:t>order_payments</a:t>
            </a:r>
            <a:r>
              <a:rPr lang="en-US" sz="1400" dirty="0">
                <a:latin typeface="Arial" panose="020B0604020202020204" pitchFamily="34" charset="0"/>
                <a:cs typeface="Arial" panose="020B0604020202020204" pitchFamily="34" charset="0"/>
              </a:rPr>
              <a:t> p</a:t>
            </a:r>
          </a:p>
          <a:p>
            <a:r>
              <a:rPr lang="en-US" sz="1400" dirty="0">
                <a:latin typeface="Arial" panose="020B0604020202020204" pitchFamily="34" charset="0"/>
                <a:cs typeface="Arial" panose="020B0604020202020204" pitchFamily="34" charset="0"/>
              </a:rPr>
              <a:t>    JOIN orders o ON </a:t>
            </a:r>
            <a:r>
              <a:rPr lang="en-US" sz="1400" dirty="0" err="1">
                <a:latin typeface="Arial" panose="020B0604020202020204" pitchFamily="34" charset="0"/>
                <a:cs typeface="Arial" panose="020B0604020202020204" pitchFamily="34" charset="0"/>
              </a:rPr>
              <a:t>p.order_id</a:t>
            </a:r>
            <a:r>
              <a:rPr lang="en-US" sz="1400" dirty="0">
                <a:latin typeface="Arial" panose="020B0604020202020204" pitchFamily="34" charset="0"/>
                <a:cs typeface="Arial" panose="020B0604020202020204" pitchFamily="34" charset="0"/>
              </a:rPr>
              <a:t> = </a:t>
            </a:r>
            <a:r>
              <a:rPr lang="en-US" sz="1400" dirty="0" err="1">
                <a:latin typeface="Arial" panose="020B0604020202020204" pitchFamily="34" charset="0"/>
                <a:cs typeface="Arial" panose="020B0604020202020204" pitchFamily="34" charset="0"/>
              </a:rPr>
              <a:t>o.order_id</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    JOIN customers c ON </a:t>
            </a:r>
            <a:r>
              <a:rPr lang="en-US" sz="1400" dirty="0" err="1">
                <a:latin typeface="Arial" panose="020B0604020202020204" pitchFamily="34" charset="0"/>
                <a:cs typeface="Arial" panose="020B0604020202020204" pitchFamily="34" charset="0"/>
              </a:rPr>
              <a:t>o.customer_id</a:t>
            </a:r>
            <a:r>
              <a:rPr lang="en-US" sz="1400" dirty="0">
                <a:latin typeface="Arial" panose="020B0604020202020204" pitchFamily="34" charset="0"/>
                <a:cs typeface="Arial" panose="020B0604020202020204" pitchFamily="34" charset="0"/>
              </a:rPr>
              <a:t> = </a:t>
            </a:r>
            <a:r>
              <a:rPr lang="en-US" sz="1400" dirty="0" err="1">
                <a:latin typeface="Arial" panose="020B0604020202020204" pitchFamily="34" charset="0"/>
                <a:cs typeface="Arial" panose="020B0604020202020204" pitchFamily="34" charset="0"/>
              </a:rPr>
              <a:t>c.customer_id</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    WHERE </a:t>
            </a:r>
            <a:r>
              <a:rPr lang="en-US" sz="1400" dirty="0" err="1">
                <a:latin typeface="Arial" panose="020B0604020202020204" pitchFamily="34" charset="0"/>
                <a:cs typeface="Arial" panose="020B0604020202020204" pitchFamily="34" charset="0"/>
              </a:rPr>
              <a:t>c.customer_city</a:t>
            </a:r>
            <a:r>
              <a:rPr lang="en-US" sz="1400" dirty="0">
                <a:latin typeface="Arial" panose="020B0604020202020204" pitchFamily="34" charset="0"/>
                <a:cs typeface="Arial" panose="020B0604020202020204" pitchFamily="34" charset="0"/>
              </a:rPr>
              <a:t> = '</a:t>
            </a:r>
            <a:r>
              <a:rPr lang="en-US" sz="1400" dirty="0" err="1">
                <a:latin typeface="Arial" panose="020B0604020202020204" pitchFamily="34" charset="0"/>
                <a:cs typeface="Arial" panose="020B0604020202020204" pitchFamily="34" charset="0"/>
              </a:rPr>
              <a:t>sao</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paulo</a:t>
            </a:r>
            <a:r>
              <a:rPr lang="en-US" sz="1400" dirty="0">
                <a:latin typeface="Arial" panose="020B0604020202020204" pitchFamily="34" charset="0"/>
                <a:cs typeface="Arial" panose="020B0604020202020204" pitchFamily="34" charset="0"/>
              </a:rPr>
              <a:t>' AND </a:t>
            </a:r>
            <a:r>
              <a:rPr lang="en-US" sz="1400" dirty="0" err="1">
                <a:latin typeface="Arial" panose="020B0604020202020204" pitchFamily="34" charset="0"/>
                <a:cs typeface="Arial" panose="020B0604020202020204" pitchFamily="34" charset="0"/>
              </a:rPr>
              <a:t>o.order_status</a:t>
            </a:r>
            <a:r>
              <a:rPr lang="en-US" sz="1400" dirty="0">
                <a:latin typeface="Arial" panose="020B0604020202020204" pitchFamily="34" charset="0"/>
                <a:cs typeface="Arial" panose="020B0604020202020204" pitchFamily="34" charset="0"/>
              </a:rPr>
              <a:t> = 'delivered') AS </a:t>
            </a:r>
            <a:r>
              <a:rPr lang="en-US" sz="1400" dirty="0" err="1">
                <a:latin typeface="Arial" panose="020B0604020202020204" pitchFamily="34" charset="0"/>
                <a:cs typeface="Arial" panose="020B0604020202020204" pitchFamily="34" charset="0"/>
              </a:rPr>
              <a:t>avg_payment_value</a:t>
            </a:r>
            <a:r>
              <a:rPr lang="en-US" sz="1400" dirty="0">
                <a:latin typeface="Arial" panose="020B0604020202020204" pitchFamily="34" charset="0"/>
                <a:cs typeface="Arial" panose="020B0604020202020204" pitchFamily="34" charset="0"/>
              </a:rPr>
              <a:t>,</a:t>
            </a:r>
          </a:p>
          <a:p>
            <a:r>
              <a:rPr lang="en-US" sz="1400" dirty="0">
                <a:latin typeface="Arial" panose="020B0604020202020204" pitchFamily="34" charset="0"/>
                <a:cs typeface="Arial" panose="020B0604020202020204" pitchFamily="34" charset="0"/>
              </a:rPr>
              <a:t>(    SELECT ROUND(AVG(</a:t>
            </a:r>
            <a:r>
              <a:rPr lang="en-US" sz="1400" dirty="0" err="1">
                <a:latin typeface="Arial" panose="020B0604020202020204" pitchFamily="34" charset="0"/>
                <a:cs typeface="Arial" panose="020B0604020202020204" pitchFamily="34" charset="0"/>
              </a:rPr>
              <a:t>oi.price</a:t>
            </a:r>
            <a:r>
              <a:rPr lang="en-US" sz="1400" dirty="0">
                <a:latin typeface="Arial" panose="020B0604020202020204" pitchFamily="34" charset="0"/>
                <a:cs typeface="Arial" panose="020B0604020202020204" pitchFamily="34" charset="0"/>
              </a:rPr>
              <a:t>),0)</a:t>
            </a:r>
          </a:p>
          <a:p>
            <a:r>
              <a:rPr lang="en-US" sz="1400" dirty="0">
                <a:latin typeface="Arial" panose="020B0604020202020204" pitchFamily="34" charset="0"/>
                <a:cs typeface="Arial" panose="020B0604020202020204" pitchFamily="34" charset="0"/>
              </a:rPr>
              <a:t>     FROM </a:t>
            </a:r>
            <a:r>
              <a:rPr lang="en-US" sz="1400" dirty="0" err="1">
                <a:latin typeface="Arial" panose="020B0604020202020204" pitchFamily="34" charset="0"/>
                <a:cs typeface="Arial" panose="020B0604020202020204" pitchFamily="34" charset="0"/>
              </a:rPr>
              <a:t>order_items</a:t>
            </a:r>
            <a:r>
              <a:rPr lang="en-US" sz="1400" dirty="0">
                <a:latin typeface="Arial" panose="020B0604020202020204" pitchFamily="34" charset="0"/>
                <a:cs typeface="Arial" panose="020B0604020202020204" pitchFamily="34" charset="0"/>
              </a:rPr>
              <a:t> oi</a:t>
            </a:r>
          </a:p>
          <a:p>
            <a:r>
              <a:rPr lang="en-US" sz="1400" dirty="0">
                <a:latin typeface="Arial" panose="020B0604020202020204" pitchFamily="34" charset="0"/>
                <a:cs typeface="Arial" panose="020B0604020202020204" pitchFamily="34" charset="0"/>
              </a:rPr>
              <a:t>    JOIN orders o ON </a:t>
            </a:r>
            <a:r>
              <a:rPr lang="en-US" sz="1400" dirty="0" err="1">
                <a:latin typeface="Arial" panose="020B0604020202020204" pitchFamily="34" charset="0"/>
                <a:cs typeface="Arial" panose="020B0604020202020204" pitchFamily="34" charset="0"/>
              </a:rPr>
              <a:t>oi.order_id</a:t>
            </a:r>
            <a:r>
              <a:rPr lang="en-US" sz="1400" dirty="0">
                <a:latin typeface="Arial" panose="020B0604020202020204" pitchFamily="34" charset="0"/>
                <a:cs typeface="Arial" panose="020B0604020202020204" pitchFamily="34" charset="0"/>
              </a:rPr>
              <a:t> = </a:t>
            </a:r>
            <a:r>
              <a:rPr lang="en-US" sz="1400" dirty="0" err="1">
                <a:latin typeface="Arial" panose="020B0604020202020204" pitchFamily="34" charset="0"/>
                <a:cs typeface="Arial" panose="020B0604020202020204" pitchFamily="34" charset="0"/>
              </a:rPr>
              <a:t>o.order_id</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    JOIN customers c ON </a:t>
            </a:r>
            <a:r>
              <a:rPr lang="en-US" sz="1400" dirty="0" err="1">
                <a:latin typeface="Arial" panose="020B0604020202020204" pitchFamily="34" charset="0"/>
                <a:cs typeface="Arial" panose="020B0604020202020204" pitchFamily="34" charset="0"/>
              </a:rPr>
              <a:t>o.customer_id</a:t>
            </a:r>
            <a:r>
              <a:rPr lang="en-US" sz="1400" dirty="0">
                <a:latin typeface="Arial" panose="020B0604020202020204" pitchFamily="34" charset="0"/>
                <a:cs typeface="Arial" panose="020B0604020202020204" pitchFamily="34" charset="0"/>
              </a:rPr>
              <a:t> = </a:t>
            </a:r>
            <a:r>
              <a:rPr lang="en-US" sz="1400" dirty="0" err="1">
                <a:latin typeface="Arial" panose="020B0604020202020204" pitchFamily="34" charset="0"/>
                <a:cs typeface="Arial" panose="020B0604020202020204" pitchFamily="34" charset="0"/>
              </a:rPr>
              <a:t>c.customer_id</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    WHERE </a:t>
            </a:r>
            <a:r>
              <a:rPr lang="en-US" sz="1400" dirty="0" err="1">
                <a:latin typeface="Arial" panose="020B0604020202020204" pitchFamily="34" charset="0"/>
                <a:cs typeface="Arial" panose="020B0604020202020204" pitchFamily="34" charset="0"/>
              </a:rPr>
              <a:t>c.customer_city</a:t>
            </a:r>
            <a:r>
              <a:rPr lang="en-US" sz="1400" dirty="0">
                <a:latin typeface="Arial" panose="020B0604020202020204" pitchFamily="34" charset="0"/>
                <a:cs typeface="Arial" panose="020B0604020202020204" pitchFamily="34" charset="0"/>
              </a:rPr>
              <a:t> = '</a:t>
            </a:r>
            <a:r>
              <a:rPr lang="en-US" sz="1400" dirty="0" err="1">
                <a:latin typeface="Arial" panose="020B0604020202020204" pitchFamily="34" charset="0"/>
                <a:cs typeface="Arial" panose="020B0604020202020204" pitchFamily="34" charset="0"/>
              </a:rPr>
              <a:t>sao</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paulo</a:t>
            </a:r>
            <a:r>
              <a:rPr lang="en-US" sz="1400" dirty="0">
                <a:latin typeface="Arial" panose="020B0604020202020204" pitchFamily="34" charset="0"/>
                <a:cs typeface="Arial" panose="020B0604020202020204" pitchFamily="34" charset="0"/>
              </a:rPr>
              <a:t>'      AND </a:t>
            </a:r>
            <a:r>
              <a:rPr lang="en-US" sz="1400" dirty="0" err="1">
                <a:latin typeface="Arial" panose="020B0604020202020204" pitchFamily="34" charset="0"/>
                <a:cs typeface="Arial" panose="020B0604020202020204" pitchFamily="34" charset="0"/>
              </a:rPr>
              <a:t>o.order_status</a:t>
            </a:r>
            <a:r>
              <a:rPr lang="en-US" sz="1400" dirty="0">
                <a:latin typeface="Arial" panose="020B0604020202020204" pitchFamily="34" charset="0"/>
                <a:cs typeface="Arial" panose="020B0604020202020204" pitchFamily="34" charset="0"/>
              </a:rPr>
              <a:t> = 'delivered') AS </a:t>
            </a:r>
            <a:r>
              <a:rPr lang="en-US" sz="1400" dirty="0" err="1">
                <a:latin typeface="Arial" panose="020B0604020202020204" pitchFamily="34" charset="0"/>
                <a:cs typeface="Arial" panose="020B0604020202020204" pitchFamily="34" charset="0"/>
              </a:rPr>
              <a:t>avg_price</a:t>
            </a:r>
            <a:r>
              <a:rPr lang="en-US" sz="1400" dirty="0">
                <a:latin typeface="Arial" panose="020B0604020202020204" pitchFamily="34" charset="0"/>
                <a:cs typeface="Arial" panose="020B0604020202020204" pitchFamily="34" charset="0"/>
              </a:rPr>
              <a:t>;</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Select * from kpi4;</a:t>
            </a:r>
            <a:endParaRPr lang="en-IN"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179277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CDC9C9-AE18-30FC-CD21-BAE4F790CA13}"/>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EBF010E1-5C18-B49A-0C67-01D5DAE5E46C}"/>
              </a:ext>
            </a:extLst>
          </p:cNvPr>
          <p:cNvSpPr txBox="1">
            <a:spLocks noGrp="1"/>
          </p:cNvSpPr>
          <p:nvPr>
            <p:ph type="title"/>
          </p:nvPr>
        </p:nvSpPr>
        <p:spPr>
          <a:xfrm>
            <a:off x="339024" y="380206"/>
            <a:ext cx="5147376" cy="428322"/>
          </a:xfrm>
          <a:prstGeom prst="rect">
            <a:avLst/>
          </a:prstGeom>
        </p:spPr>
        <p:txBody>
          <a:bodyPr vert="horz" wrap="square" lIns="0" tIns="12700" rIns="0" bIns="0" rtlCol="0">
            <a:spAutoFit/>
          </a:bodyPr>
          <a:lstStyle/>
          <a:p>
            <a:r>
              <a:rPr lang="en-US" dirty="0"/>
              <a:t>SQL Queries Used</a:t>
            </a:r>
          </a:p>
        </p:txBody>
      </p:sp>
      <p:sp>
        <p:nvSpPr>
          <p:cNvPr id="14" name="object 22">
            <a:extLst>
              <a:ext uri="{FF2B5EF4-FFF2-40B4-BE49-F238E27FC236}">
                <a16:creationId xmlns:a16="http://schemas.microsoft.com/office/drawing/2014/main" id="{79D5F549-3282-57F8-8D72-EFD7E4699F22}"/>
              </a:ext>
            </a:extLst>
          </p:cNvPr>
          <p:cNvSpPr txBox="1">
            <a:spLocks noGrp="1"/>
          </p:cNvSpPr>
          <p:nvPr>
            <p:ph type="dt" sz="half" idx="6"/>
          </p:nvPr>
        </p:nvSpPr>
        <p:spPr>
          <a:xfrm>
            <a:off x="10106868" y="6501376"/>
            <a:ext cx="1793240" cy="184666"/>
          </a:xfrm>
          <a:prstGeom prst="rect">
            <a:avLst/>
          </a:prstGeom>
        </p:spPr>
        <p:txBody>
          <a:bodyPr vert="horz" wrap="square" lIns="0" tIns="22860" rIns="0" bIns="0" rtlCol="0">
            <a:spAutoFit/>
          </a:bodyPr>
          <a:lstStyle/>
          <a:p>
            <a:pPr marL="12700">
              <a:lnSpc>
                <a:spcPct val="100000"/>
              </a:lnSpc>
              <a:spcBef>
                <a:spcPts val="180"/>
              </a:spcBef>
            </a:pPr>
            <a:r>
              <a:rPr lang="en-US" spc="-10" dirty="0"/>
              <a:t>Olist Store Analysis</a:t>
            </a:r>
          </a:p>
        </p:txBody>
      </p:sp>
      <p:sp>
        <p:nvSpPr>
          <p:cNvPr id="2" name="TextBox 1">
            <a:extLst>
              <a:ext uri="{FF2B5EF4-FFF2-40B4-BE49-F238E27FC236}">
                <a16:creationId xmlns:a16="http://schemas.microsoft.com/office/drawing/2014/main" id="{5EB61CD5-A1EB-985F-70B9-24455AE52977}"/>
              </a:ext>
            </a:extLst>
          </p:cNvPr>
          <p:cNvSpPr txBox="1"/>
          <p:nvPr/>
        </p:nvSpPr>
        <p:spPr>
          <a:xfrm>
            <a:off x="339024" y="1066006"/>
            <a:ext cx="11395776" cy="2246769"/>
          </a:xfrm>
          <a:prstGeom prst="rect">
            <a:avLst/>
          </a:prstGeom>
          <a:noFill/>
          <a:ln>
            <a:solidFill>
              <a:srgbClr val="FFC000"/>
            </a:solidFill>
          </a:ln>
        </p:spPr>
        <p:txBody>
          <a:bodyPr wrap="square" rtlCol="0">
            <a:spAutoFit/>
          </a:bodyPr>
          <a:lstStyle/>
          <a:p>
            <a:r>
              <a:rPr lang="en-US" sz="1400" b="1" dirty="0">
                <a:latin typeface="Arial" panose="020B0604020202020204" pitchFamily="34" charset="0"/>
                <a:cs typeface="Arial" panose="020B0604020202020204" pitchFamily="34" charset="0"/>
              </a:rPr>
              <a:t>#KPI5</a:t>
            </a:r>
          </a:p>
          <a:p>
            <a:r>
              <a:rPr lang="en-US" sz="1400" dirty="0">
                <a:latin typeface="Arial" panose="020B0604020202020204" pitchFamily="34" charset="0"/>
                <a:cs typeface="Arial" panose="020B0604020202020204" pitchFamily="34" charset="0"/>
              </a:rPr>
              <a:t>create table kpi5 as SELECT </a:t>
            </a:r>
          </a:p>
          <a:p>
            <a:r>
              <a:rPr lang="en-US" sz="1400" dirty="0" err="1">
                <a:latin typeface="Arial" panose="020B0604020202020204" pitchFamily="34" charset="0"/>
                <a:cs typeface="Arial" panose="020B0604020202020204" pitchFamily="34" charset="0"/>
              </a:rPr>
              <a:t>r.review_score,ROUND</a:t>
            </a:r>
            <a:r>
              <a:rPr lang="en-US" sz="1400" dirty="0">
                <a:latin typeface="Arial" panose="020B0604020202020204" pitchFamily="34" charset="0"/>
                <a:cs typeface="Arial" panose="020B0604020202020204" pitchFamily="34" charset="0"/>
              </a:rPr>
              <a:t>(AVG(DATEDIFF(</a:t>
            </a:r>
            <a:r>
              <a:rPr lang="en-US" sz="1400" dirty="0" err="1">
                <a:latin typeface="Arial" panose="020B0604020202020204" pitchFamily="34" charset="0"/>
                <a:cs typeface="Arial" panose="020B0604020202020204" pitchFamily="34" charset="0"/>
              </a:rPr>
              <a:t>o.order_delivered_customer_date</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o.order_purchase_timestamp</a:t>
            </a:r>
            <a:r>
              <a:rPr lang="en-US" sz="1400" dirty="0">
                <a:latin typeface="Arial" panose="020B0604020202020204" pitchFamily="34" charset="0"/>
                <a:cs typeface="Arial" panose="020B0604020202020204" pitchFamily="34" charset="0"/>
              </a:rPr>
              <a:t>)),0) AS </a:t>
            </a:r>
            <a:r>
              <a:rPr lang="en-US" sz="1400" dirty="0" err="1">
                <a:latin typeface="Arial" panose="020B0604020202020204" pitchFamily="34" charset="0"/>
                <a:cs typeface="Arial" panose="020B0604020202020204" pitchFamily="34" charset="0"/>
              </a:rPr>
              <a:t>avg_delivery_days</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FROM </a:t>
            </a:r>
            <a:r>
              <a:rPr lang="en-US" sz="1400" dirty="0" err="1">
                <a:latin typeface="Arial" panose="020B0604020202020204" pitchFamily="34" charset="0"/>
                <a:cs typeface="Arial" panose="020B0604020202020204" pitchFamily="34" charset="0"/>
              </a:rPr>
              <a:t>order_reviews</a:t>
            </a:r>
            <a:r>
              <a:rPr lang="en-US" sz="1400" dirty="0">
                <a:latin typeface="Arial" panose="020B0604020202020204" pitchFamily="34" charset="0"/>
                <a:cs typeface="Arial" panose="020B0604020202020204" pitchFamily="34" charset="0"/>
              </a:rPr>
              <a:t> r </a:t>
            </a:r>
          </a:p>
          <a:p>
            <a:r>
              <a:rPr lang="en-US" sz="1400" dirty="0">
                <a:latin typeface="Arial" panose="020B0604020202020204" pitchFamily="34" charset="0"/>
                <a:cs typeface="Arial" panose="020B0604020202020204" pitchFamily="34" charset="0"/>
              </a:rPr>
              <a:t>JOIN orders o ON </a:t>
            </a:r>
            <a:r>
              <a:rPr lang="en-US" sz="1400" dirty="0" err="1">
                <a:latin typeface="Arial" panose="020B0604020202020204" pitchFamily="34" charset="0"/>
                <a:cs typeface="Arial" panose="020B0604020202020204" pitchFamily="34" charset="0"/>
              </a:rPr>
              <a:t>r.order_id</a:t>
            </a:r>
            <a:r>
              <a:rPr lang="en-US" sz="1400" dirty="0">
                <a:latin typeface="Arial" panose="020B0604020202020204" pitchFamily="34" charset="0"/>
                <a:cs typeface="Arial" panose="020B0604020202020204" pitchFamily="34" charset="0"/>
              </a:rPr>
              <a:t> = </a:t>
            </a:r>
            <a:r>
              <a:rPr lang="en-US" sz="1400" dirty="0" err="1">
                <a:latin typeface="Arial" panose="020B0604020202020204" pitchFamily="34" charset="0"/>
                <a:cs typeface="Arial" panose="020B0604020202020204" pitchFamily="34" charset="0"/>
              </a:rPr>
              <a:t>o.order_id</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WHERE </a:t>
            </a:r>
            <a:r>
              <a:rPr lang="en-US" sz="1400" dirty="0" err="1">
                <a:latin typeface="Arial" panose="020B0604020202020204" pitchFamily="34" charset="0"/>
                <a:cs typeface="Arial" panose="020B0604020202020204" pitchFamily="34" charset="0"/>
              </a:rPr>
              <a:t>o.order_delivered_customer_date</a:t>
            </a:r>
            <a:r>
              <a:rPr lang="en-US" sz="1400" dirty="0">
                <a:latin typeface="Arial" panose="020B0604020202020204" pitchFamily="34" charset="0"/>
                <a:cs typeface="Arial" panose="020B0604020202020204" pitchFamily="34" charset="0"/>
              </a:rPr>
              <a:t> IS NOT NULL</a:t>
            </a:r>
          </a:p>
          <a:p>
            <a:r>
              <a:rPr lang="en-US" sz="1400" dirty="0">
                <a:latin typeface="Arial" panose="020B0604020202020204" pitchFamily="34" charset="0"/>
                <a:cs typeface="Arial" panose="020B0604020202020204" pitchFamily="34" charset="0"/>
              </a:rPr>
              <a:t>GROUP BY </a:t>
            </a:r>
            <a:r>
              <a:rPr lang="en-US" sz="1400" dirty="0" err="1">
                <a:latin typeface="Arial" panose="020B0604020202020204" pitchFamily="34" charset="0"/>
                <a:cs typeface="Arial" panose="020B0604020202020204" pitchFamily="34" charset="0"/>
              </a:rPr>
              <a:t>r.review_score</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ORDER BY </a:t>
            </a:r>
            <a:r>
              <a:rPr lang="en-US" sz="1400" dirty="0" err="1">
                <a:latin typeface="Arial" panose="020B0604020202020204" pitchFamily="34" charset="0"/>
                <a:cs typeface="Arial" panose="020B0604020202020204" pitchFamily="34" charset="0"/>
              </a:rPr>
              <a:t>r.review_score</a:t>
            </a:r>
            <a:r>
              <a:rPr lang="en-US" sz="1400" dirty="0">
                <a:latin typeface="Arial" panose="020B0604020202020204" pitchFamily="34" charset="0"/>
                <a:cs typeface="Arial" panose="020B0604020202020204" pitchFamily="34" charset="0"/>
              </a:rPr>
              <a:t> </a:t>
            </a:r>
            <a:r>
              <a:rPr lang="en-US" sz="1400" dirty="0">
                <a:latin typeface="+mn-lt"/>
                <a:cs typeface="Arial" panose="020B0604020202020204" pitchFamily="34" charset="0"/>
              </a:rPr>
              <a:t>DES</a:t>
            </a:r>
            <a:r>
              <a:rPr lang="en-US" sz="1400" dirty="0">
                <a:latin typeface="Arial" panose="020B0604020202020204" pitchFamily="34" charset="0"/>
                <a:cs typeface="Arial" panose="020B0604020202020204" pitchFamily="34" charset="0"/>
              </a:rPr>
              <a:t>C;</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select * from kpi5;</a:t>
            </a:r>
            <a:endParaRPr lang="en-IN"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209535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8F4712-5937-95C2-821E-D027C4C82949}"/>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5E17042E-43E5-3B6C-F455-F215FC41B4E9}"/>
              </a:ext>
            </a:extLst>
          </p:cNvPr>
          <p:cNvSpPr txBox="1">
            <a:spLocks noGrp="1"/>
          </p:cNvSpPr>
          <p:nvPr>
            <p:ph type="title"/>
          </p:nvPr>
        </p:nvSpPr>
        <p:spPr>
          <a:xfrm>
            <a:off x="339024" y="380206"/>
            <a:ext cx="5147376" cy="428322"/>
          </a:xfrm>
          <a:prstGeom prst="rect">
            <a:avLst/>
          </a:prstGeom>
        </p:spPr>
        <p:txBody>
          <a:bodyPr vert="horz" wrap="square" lIns="0" tIns="12700" rIns="0" bIns="0" rtlCol="0">
            <a:spAutoFit/>
          </a:bodyPr>
          <a:lstStyle/>
          <a:p>
            <a:r>
              <a:rPr lang="en-US" dirty="0"/>
              <a:t>Tableau Dashboard</a:t>
            </a:r>
          </a:p>
        </p:txBody>
      </p:sp>
      <p:sp>
        <p:nvSpPr>
          <p:cNvPr id="14" name="object 22">
            <a:extLst>
              <a:ext uri="{FF2B5EF4-FFF2-40B4-BE49-F238E27FC236}">
                <a16:creationId xmlns:a16="http://schemas.microsoft.com/office/drawing/2014/main" id="{887399CD-19AC-E4F9-6256-47BC53200FC2}"/>
              </a:ext>
            </a:extLst>
          </p:cNvPr>
          <p:cNvSpPr txBox="1">
            <a:spLocks noGrp="1"/>
          </p:cNvSpPr>
          <p:nvPr>
            <p:ph type="dt" sz="half" idx="6"/>
          </p:nvPr>
        </p:nvSpPr>
        <p:spPr>
          <a:xfrm>
            <a:off x="10106868" y="6501376"/>
            <a:ext cx="1793240" cy="184666"/>
          </a:xfrm>
          <a:prstGeom prst="rect">
            <a:avLst/>
          </a:prstGeom>
        </p:spPr>
        <p:txBody>
          <a:bodyPr vert="horz" wrap="square" lIns="0" tIns="22860" rIns="0" bIns="0" rtlCol="0">
            <a:spAutoFit/>
          </a:bodyPr>
          <a:lstStyle/>
          <a:p>
            <a:pPr marL="12700">
              <a:lnSpc>
                <a:spcPct val="100000"/>
              </a:lnSpc>
              <a:spcBef>
                <a:spcPts val="180"/>
              </a:spcBef>
            </a:pPr>
            <a:r>
              <a:rPr lang="en-US" spc="-10" dirty="0"/>
              <a:t>Olist Store Analysis</a:t>
            </a:r>
          </a:p>
        </p:txBody>
      </p:sp>
      <p:pic>
        <p:nvPicPr>
          <p:cNvPr id="3" name="Picture 2">
            <a:extLst>
              <a:ext uri="{FF2B5EF4-FFF2-40B4-BE49-F238E27FC236}">
                <a16:creationId xmlns:a16="http://schemas.microsoft.com/office/drawing/2014/main" id="{2B470133-9A60-40F1-B5E5-C2C6745826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024" y="808528"/>
            <a:ext cx="11513952" cy="5667679"/>
          </a:xfrm>
          <a:prstGeom prst="rect">
            <a:avLst/>
          </a:prstGeom>
        </p:spPr>
      </p:pic>
    </p:spTree>
    <p:extLst>
      <p:ext uri="{BB962C8B-B14F-4D97-AF65-F5344CB8AC3E}">
        <p14:creationId xmlns:p14="http://schemas.microsoft.com/office/powerpoint/2010/main" val="1970405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3FE110-F570-D3DF-5F8F-42ED805A006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6D6098E-6460-786F-F9AB-3B1590CF4428}"/>
              </a:ext>
            </a:extLst>
          </p:cNvPr>
          <p:cNvSpPr txBox="1">
            <a:spLocks noGrp="1"/>
          </p:cNvSpPr>
          <p:nvPr>
            <p:ph type="title"/>
          </p:nvPr>
        </p:nvSpPr>
        <p:spPr>
          <a:xfrm>
            <a:off x="339024" y="380206"/>
            <a:ext cx="5147376" cy="428322"/>
          </a:xfrm>
          <a:prstGeom prst="rect">
            <a:avLst/>
          </a:prstGeom>
        </p:spPr>
        <p:txBody>
          <a:bodyPr vert="horz" wrap="square" lIns="0" tIns="12700" rIns="0" bIns="0" rtlCol="0">
            <a:spAutoFit/>
          </a:bodyPr>
          <a:lstStyle/>
          <a:p>
            <a:r>
              <a:rPr lang="en-US" dirty="0"/>
              <a:t>Excel Dashboard</a:t>
            </a:r>
          </a:p>
        </p:txBody>
      </p:sp>
      <p:sp>
        <p:nvSpPr>
          <p:cNvPr id="14" name="object 22">
            <a:extLst>
              <a:ext uri="{FF2B5EF4-FFF2-40B4-BE49-F238E27FC236}">
                <a16:creationId xmlns:a16="http://schemas.microsoft.com/office/drawing/2014/main" id="{A03019A3-3E31-66D5-8F85-2DC532E22F92}"/>
              </a:ext>
            </a:extLst>
          </p:cNvPr>
          <p:cNvSpPr txBox="1">
            <a:spLocks noGrp="1"/>
          </p:cNvSpPr>
          <p:nvPr>
            <p:ph type="dt" sz="half" idx="6"/>
          </p:nvPr>
        </p:nvSpPr>
        <p:spPr>
          <a:xfrm>
            <a:off x="10106868" y="6501376"/>
            <a:ext cx="1793240" cy="184666"/>
          </a:xfrm>
          <a:prstGeom prst="rect">
            <a:avLst/>
          </a:prstGeom>
        </p:spPr>
        <p:txBody>
          <a:bodyPr vert="horz" wrap="square" lIns="0" tIns="22860" rIns="0" bIns="0" rtlCol="0">
            <a:spAutoFit/>
          </a:bodyPr>
          <a:lstStyle/>
          <a:p>
            <a:pPr marL="12700">
              <a:lnSpc>
                <a:spcPct val="100000"/>
              </a:lnSpc>
              <a:spcBef>
                <a:spcPts val="180"/>
              </a:spcBef>
            </a:pPr>
            <a:r>
              <a:rPr lang="en-US" spc="-10" dirty="0"/>
              <a:t>Olist Store Analysis</a:t>
            </a:r>
          </a:p>
        </p:txBody>
      </p:sp>
      <p:pic>
        <p:nvPicPr>
          <p:cNvPr id="4" name="Picture 3">
            <a:extLst>
              <a:ext uri="{FF2B5EF4-FFF2-40B4-BE49-F238E27FC236}">
                <a16:creationId xmlns:a16="http://schemas.microsoft.com/office/drawing/2014/main" id="{97CC52D6-E991-90E7-B262-3ECADFED8A5F}"/>
              </a:ext>
            </a:extLst>
          </p:cNvPr>
          <p:cNvPicPr>
            <a:picLocks noChangeAspect="1"/>
          </p:cNvPicPr>
          <p:nvPr/>
        </p:nvPicPr>
        <p:blipFill>
          <a:blip r:embed="rId3"/>
          <a:stretch>
            <a:fillRect/>
          </a:stretch>
        </p:blipFill>
        <p:spPr>
          <a:xfrm>
            <a:off x="309527" y="837231"/>
            <a:ext cx="11590581" cy="5444470"/>
          </a:xfrm>
          <a:prstGeom prst="rect">
            <a:avLst/>
          </a:prstGeom>
        </p:spPr>
      </p:pic>
    </p:spTree>
    <p:extLst>
      <p:ext uri="{BB962C8B-B14F-4D97-AF65-F5344CB8AC3E}">
        <p14:creationId xmlns:p14="http://schemas.microsoft.com/office/powerpoint/2010/main" val="35261172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4908FB-289C-4201-77C0-1B24CD9C7959}"/>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635BCF91-F087-E6D8-2344-DBDA37AE1413}"/>
              </a:ext>
            </a:extLst>
          </p:cNvPr>
          <p:cNvSpPr txBox="1">
            <a:spLocks noGrp="1"/>
          </p:cNvSpPr>
          <p:nvPr>
            <p:ph type="title"/>
          </p:nvPr>
        </p:nvSpPr>
        <p:spPr>
          <a:xfrm>
            <a:off x="339024" y="380206"/>
            <a:ext cx="5147376" cy="428322"/>
          </a:xfrm>
          <a:prstGeom prst="rect">
            <a:avLst/>
          </a:prstGeom>
        </p:spPr>
        <p:txBody>
          <a:bodyPr vert="horz" wrap="square" lIns="0" tIns="12700" rIns="0" bIns="0" rtlCol="0">
            <a:spAutoFit/>
          </a:bodyPr>
          <a:lstStyle/>
          <a:p>
            <a:r>
              <a:rPr lang="en-US" dirty="0"/>
              <a:t>Excel Dashboard</a:t>
            </a:r>
          </a:p>
        </p:txBody>
      </p:sp>
      <p:sp>
        <p:nvSpPr>
          <p:cNvPr id="14" name="object 22">
            <a:extLst>
              <a:ext uri="{FF2B5EF4-FFF2-40B4-BE49-F238E27FC236}">
                <a16:creationId xmlns:a16="http://schemas.microsoft.com/office/drawing/2014/main" id="{C479CEFD-C8F2-8738-37FF-1BF6181C0ECD}"/>
              </a:ext>
            </a:extLst>
          </p:cNvPr>
          <p:cNvSpPr txBox="1">
            <a:spLocks noGrp="1"/>
          </p:cNvSpPr>
          <p:nvPr>
            <p:ph type="dt" sz="half" idx="6"/>
          </p:nvPr>
        </p:nvSpPr>
        <p:spPr>
          <a:xfrm>
            <a:off x="10106868" y="6501376"/>
            <a:ext cx="1793240" cy="184666"/>
          </a:xfrm>
          <a:prstGeom prst="rect">
            <a:avLst/>
          </a:prstGeom>
        </p:spPr>
        <p:txBody>
          <a:bodyPr vert="horz" wrap="square" lIns="0" tIns="22860" rIns="0" bIns="0" rtlCol="0">
            <a:spAutoFit/>
          </a:bodyPr>
          <a:lstStyle/>
          <a:p>
            <a:pPr marL="12700">
              <a:lnSpc>
                <a:spcPct val="100000"/>
              </a:lnSpc>
              <a:spcBef>
                <a:spcPts val="180"/>
              </a:spcBef>
            </a:pPr>
            <a:r>
              <a:rPr lang="en-US" spc="-10" dirty="0"/>
              <a:t>Olist Store Analysis</a:t>
            </a:r>
          </a:p>
        </p:txBody>
      </p:sp>
      <p:pic>
        <p:nvPicPr>
          <p:cNvPr id="9" name="Picture 8">
            <a:extLst>
              <a:ext uri="{FF2B5EF4-FFF2-40B4-BE49-F238E27FC236}">
                <a16:creationId xmlns:a16="http://schemas.microsoft.com/office/drawing/2014/main" id="{316290C6-7202-F5B3-806B-6115F73307AF}"/>
              </a:ext>
            </a:extLst>
          </p:cNvPr>
          <p:cNvPicPr>
            <a:picLocks noChangeAspect="1"/>
          </p:cNvPicPr>
          <p:nvPr/>
        </p:nvPicPr>
        <p:blipFill>
          <a:blip r:embed="rId2"/>
          <a:stretch>
            <a:fillRect/>
          </a:stretch>
        </p:blipFill>
        <p:spPr>
          <a:xfrm>
            <a:off x="339024" y="808528"/>
            <a:ext cx="11513952" cy="5454486"/>
          </a:xfrm>
          <a:prstGeom prst="rect">
            <a:avLst/>
          </a:prstGeom>
        </p:spPr>
      </p:pic>
    </p:spTree>
    <p:extLst>
      <p:ext uri="{BB962C8B-B14F-4D97-AF65-F5344CB8AC3E}">
        <p14:creationId xmlns:p14="http://schemas.microsoft.com/office/powerpoint/2010/main" val="19578779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66814D8-B32B-2201-AF04-2AA3039E5A36}"/>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7F68DE0-9365-50D8-88D2-67FE63676D8D}"/>
              </a:ext>
            </a:extLst>
          </p:cNvPr>
          <p:cNvSpPr txBox="1">
            <a:spLocks noGrp="1"/>
          </p:cNvSpPr>
          <p:nvPr>
            <p:ph type="title"/>
          </p:nvPr>
        </p:nvSpPr>
        <p:spPr>
          <a:xfrm>
            <a:off x="339024" y="380206"/>
            <a:ext cx="8423976" cy="525785"/>
          </a:xfrm>
          <a:prstGeom prst="rect">
            <a:avLst/>
          </a:prstGeom>
        </p:spPr>
        <p:txBody>
          <a:bodyPr vert="horz" wrap="square" lIns="0" tIns="12700" rIns="0" bIns="0" rtlCol="0">
            <a:spAutoFit/>
          </a:bodyPr>
          <a:lstStyle/>
          <a:p>
            <a:pPr marL="12700">
              <a:lnSpc>
                <a:spcPts val="3960"/>
              </a:lnSpc>
              <a:spcBef>
                <a:spcPts val="100"/>
              </a:spcBef>
            </a:pPr>
            <a:r>
              <a:rPr lang="en-IN" sz="3600" dirty="0"/>
              <a:t>Conclusion &amp; Recommendations</a:t>
            </a:r>
            <a:endParaRPr sz="3600" dirty="0"/>
          </a:p>
        </p:txBody>
      </p:sp>
      <p:sp>
        <p:nvSpPr>
          <p:cNvPr id="7" name="object 7">
            <a:extLst>
              <a:ext uri="{FF2B5EF4-FFF2-40B4-BE49-F238E27FC236}">
                <a16:creationId xmlns:a16="http://schemas.microsoft.com/office/drawing/2014/main" id="{E6E22D35-8948-6B67-75C3-03DF4AACA2F2}"/>
              </a:ext>
            </a:extLst>
          </p:cNvPr>
          <p:cNvSpPr txBox="1"/>
          <p:nvPr/>
        </p:nvSpPr>
        <p:spPr>
          <a:xfrm>
            <a:off x="339023" y="893413"/>
            <a:ext cx="4971211" cy="428322"/>
          </a:xfrm>
          <a:prstGeom prst="rect">
            <a:avLst/>
          </a:prstGeom>
        </p:spPr>
        <p:txBody>
          <a:bodyPr vert="horz" wrap="square" lIns="0" tIns="12700" rIns="0" bIns="0" rtlCol="0">
            <a:spAutoFit/>
          </a:bodyPr>
          <a:lstStyle/>
          <a:p>
            <a:pPr marL="12700">
              <a:lnSpc>
                <a:spcPct val="100000"/>
              </a:lnSpc>
              <a:spcBef>
                <a:spcPts val="100"/>
              </a:spcBef>
            </a:pPr>
            <a:r>
              <a:rPr lang="en-IN" sz="2700" b="1" dirty="0">
                <a:solidFill>
                  <a:srgbClr val="F1C711"/>
                </a:solidFill>
                <a:latin typeface="Segoe UI Semibold"/>
                <a:cs typeface="Segoe UI Semibold"/>
              </a:rPr>
              <a:t>Strategic Business Insights</a:t>
            </a:r>
            <a:endParaRPr sz="2700" dirty="0">
              <a:latin typeface="Segoe UI Semibold"/>
              <a:cs typeface="Segoe UI Semibold"/>
            </a:endParaRPr>
          </a:p>
        </p:txBody>
      </p:sp>
      <p:grpSp>
        <p:nvGrpSpPr>
          <p:cNvPr id="2" name="object 13">
            <a:extLst>
              <a:ext uri="{FF2B5EF4-FFF2-40B4-BE49-F238E27FC236}">
                <a16:creationId xmlns:a16="http://schemas.microsoft.com/office/drawing/2014/main" id="{BB88975F-96E2-FEAC-FBDB-0E0E2EB59982}"/>
              </a:ext>
            </a:extLst>
          </p:cNvPr>
          <p:cNvGrpSpPr/>
          <p:nvPr/>
        </p:nvGrpSpPr>
        <p:grpSpPr>
          <a:xfrm>
            <a:off x="364221" y="1351877"/>
            <a:ext cx="4829493" cy="729173"/>
            <a:chOff x="7058024" y="4286251"/>
            <a:chExt cx="4829493" cy="1257499"/>
          </a:xfrm>
        </p:grpSpPr>
        <p:sp>
          <p:nvSpPr>
            <p:cNvPr id="3" name="object 14">
              <a:extLst>
                <a:ext uri="{FF2B5EF4-FFF2-40B4-BE49-F238E27FC236}">
                  <a16:creationId xmlns:a16="http://schemas.microsoft.com/office/drawing/2014/main" id="{A0082274-6CAA-E09D-A5E3-8F6A8C1FC1E3}"/>
                </a:ext>
              </a:extLst>
            </p:cNvPr>
            <p:cNvSpPr/>
            <p:nvPr/>
          </p:nvSpPr>
          <p:spPr>
            <a:xfrm>
              <a:off x="7081837" y="4286251"/>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dirty="0"/>
            </a:p>
          </p:txBody>
        </p:sp>
        <p:sp>
          <p:nvSpPr>
            <p:cNvPr id="4" name="object 15">
              <a:extLst>
                <a:ext uri="{FF2B5EF4-FFF2-40B4-BE49-F238E27FC236}">
                  <a16:creationId xmlns:a16="http://schemas.microsoft.com/office/drawing/2014/main" id="{451E38F3-C9FA-DD7F-4BE3-6FFBAA1285A8}"/>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sp>
        <p:nvSpPr>
          <p:cNvPr id="63" name="TextBox 62">
            <a:extLst>
              <a:ext uri="{FF2B5EF4-FFF2-40B4-BE49-F238E27FC236}">
                <a16:creationId xmlns:a16="http://schemas.microsoft.com/office/drawing/2014/main" id="{D7F6FE51-C45E-E460-C086-007430840C4D}"/>
              </a:ext>
            </a:extLst>
          </p:cNvPr>
          <p:cNvSpPr txBox="1"/>
          <p:nvPr/>
        </p:nvSpPr>
        <p:spPr>
          <a:xfrm>
            <a:off x="411414" y="1543605"/>
            <a:ext cx="2438400" cy="369332"/>
          </a:xfrm>
          <a:prstGeom prst="rect">
            <a:avLst/>
          </a:prstGeom>
          <a:noFill/>
        </p:spPr>
        <p:txBody>
          <a:bodyPr wrap="square" rtlCol="0">
            <a:spAutoFit/>
          </a:bodyPr>
          <a:lstStyle/>
          <a:p>
            <a:r>
              <a:rPr lang="en-IN" b="1" i="0" dirty="0">
                <a:solidFill>
                  <a:srgbClr val="1E3A8A"/>
                </a:solidFill>
                <a:effectLst/>
                <a:latin typeface="Montserrat" panose="00000500000000000000" pitchFamily="2" charset="0"/>
              </a:rPr>
              <a:t>Key Conclusions</a:t>
            </a:r>
            <a:endParaRPr lang="en-IN" dirty="0"/>
          </a:p>
        </p:txBody>
      </p:sp>
      <p:grpSp>
        <p:nvGrpSpPr>
          <p:cNvPr id="8" name="object 13">
            <a:extLst>
              <a:ext uri="{FF2B5EF4-FFF2-40B4-BE49-F238E27FC236}">
                <a16:creationId xmlns:a16="http://schemas.microsoft.com/office/drawing/2014/main" id="{401F2311-958D-D832-0316-8D9B99AEDE2A}"/>
              </a:ext>
            </a:extLst>
          </p:cNvPr>
          <p:cNvGrpSpPr/>
          <p:nvPr/>
        </p:nvGrpSpPr>
        <p:grpSpPr>
          <a:xfrm>
            <a:off x="6629400" y="1411347"/>
            <a:ext cx="4829493" cy="729173"/>
            <a:chOff x="7058024" y="4286251"/>
            <a:chExt cx="4829493" cy="1257499"/>
          </a:xfrm>
        </p:grpSpPr>
        <p:sp>
          <p:nvSpPr>
            <p:cNvPr id="9" name="object 14">
              <a:extLst>
                <a:ext uri="{FF2B5EF4-FFF2-40B4-BE49-F238E27FC236}">
                  <a16:creationId xmlns:a16="http://schemas.microsoft.com/office/drawing/2014/main" id="{AA08445B-4F26-4812-F452-0C4BD3A3ECC7}"/>
                </a:ext>
              </a:extLst>
            </p:cNvPr>
            <p:cNvSpPr/>
            <p:nvPr/>
          </p:nvSpPr>
          <p:spPr>
            <a:xfrm>
              <a:off x="7081837" y="4286251"/>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dirty="0"/>
            </a:p>
          </p:txBody>
        </p:sp>
        <p:sp>
          <p:nvSpPr>
            <p:cNvPr id="10" name="object 15">
              <a:extLst>
                <a:ext uri="{FF2B5EF4-FFF2-40B4-BE49-F238E27FC236}">
                  <a16:creationId xmlns:a16="http://schemas.microsoft.com/office/drawing/2014/main" id="{0ED26B0B-9F89-390E-7B27-9902D086A8BE}"/>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sp>
        <p:nvSpPr>
          <p:cNvPr id="11" name="TextBox 10">
            <a:extLst>
              <a:ext uri="{FF2B5EF4-FFF2-40B4-BE49-F238E27FC236}">
                <a16:creationId xmlns:a16="http://schemas.microsoft.com/office/drawing/2014/main" id="{B0907088-3566-4A3B-32D0-03A2391ECC75}"/>
              </a:ext>
            </a:extLst>
          </p:cNvPr>
          <p:cNvSpPr txBox="1"/>
          <p:nvPr/>
        </p:nvSpPr>
        <p:spPr>
          <a:xfrm>
            <a:off x="6701790" y="1591210"/>
            <a:ext cx="2819400" cy="369332"/>
          </a:xfrm>
          <a:prstGeom prst="rect">
            <a:avLst/>
          </a:prstGeom>
          <a:noFill/>
        </p:spPr>
        <p:txBody>
          <a:bodyPr wrap="square" rtlCol="0">
            <a:spAutoFit/>
          </a:bodyPr>
          <a:lstStyle/>
          <a:p>
            <a:r>
              <a:rPr lang="en-IN" b="1" i="0" dirty="0">
                <a:solidFill>
                  <a:srgbClr val="1E3A8A"/>
                </a:solidFill>
                <a:effectLst/>
                <a:latin typeface="Montserrat" panose="00000500000000000000" pitchFamily="2" charset="0"/>
              </a:rPr>
              <a:t>Recommendations</a:t>
            </a:r>
            <a:endParaRPr lang="en-IN" dirty="0"/>
          </a:p>
        </p:txBody>
      </p:sp>
      <p:sp>
        <p:nvSpPr>
          <p:cNvPr id="12" name="TextBox 11">
            <a:extLst>
              <a:ext uri="{FF2B5EF4-FFF2-40B4-BE49-F238E27FC236}">
                <a16:creationId xmlns:a16="http://schemas.microsoft.com/office/drawing/2014/main" id="{93E2C1A2-6997-900A-C2B7-B116091CCBA8}"/>
              </a:ext>
            </a:extLst>
          </p:cNvPr>
          <p:cNvSpPr txBox="1"/>
          <p:nvPr/>
        </p:nvSpPr>
        <p:spPr>
          <a:xfrm>
            <a:off x="364221" y="2478147"/>
            <a:ext cx="4793298" cy="3505200"/>
          </a:xfrm>
          <a:prstGeom prst="rect">
            <a:avLst/>
          </a:prstGeom>
          <a:noFill/>
        </p:spPr>
        <p:txBody>
          <a:bodyPr wrap="square" rtlCol="0">
            <a:spAutoFit/>
          </a:bodyPr>
          <a:lstStyle/>
          <a:p>
            <a:endParaRPr lang="en-IN" dirty="0"/>
          </a:p>
        </p:txBody>
      </p:sp>
      <p:sp>
        <p:nvSpPr>
          <p:cNvPr id="13" name="TextBox 12">
            <a:extLst>
              <a:ext uri="{FF2B5EF4-FFF2-40B4-BE49-F238E27FC236}">
                <a16:creationId xmlns:a16="http://schemas.microsoft.com/office/drawing/2014/main" id="{C2723921-D934-AE19-E53C-38C466E490CD}"/>
              </a:ext>
            </a:extLst>
          </p:cNvPr>
          <p:cNvSpPr txBox="1"/>
          <p:nvPr/>
        </p:nvSpPr>
        <p:spPr>
          <a:xfrm>
            <a:off x="316627" y="2104550"/>
            <a:ext cx="4793298" cy="4616648"/>
          </a:xfrm>
          <a:prstGeom prst="rect">
            <a:avLst/>
          </a:prstGeom>
          <a:noFill/>
        </p:spPr>
        <p:txBody>
          <a:bodyPr wrap="square" rtlCol="0">
            <a:spAutoFit/>
          </a:bodyPr>
          <a:lstStyle/>
          <a:p>
            <a:pPr algn="just"/>
            <a:r>
              <a:rPr lang="en-US" sz="1400" b="1" dirty="0">
                <a:latin typeface="Arial" panose="020B0604020202020204" pitchFamily="34" charset="0"/>
                <a:cs typeface="Arial" panose="020B0604020202020204" pitchFamily="34" charset="0"/>
              </a:rPr>
              <a:t>1.Credit Card Dominates Customer Payments</a:t>
            </a:r>
          </a:p>
          <a:p>
            <a:pPr algn="just"/>
            <a:r>
              <a:rPr lang="en-US" sz="1400" dirty="0">
                <a:latin typeface="Arial" panose="020B0604020202020204" pitchFamily="34" charset="0"/>
                <a:cs typeface="Arial" panose="020B0604020202020204" pitchFamily="34" charset="0"/>
              </a:rPr>
              <a:t>Most orders are completed using credit card, indicating customers prefer fast and secure digital payment methods</a:t>
            </a:r>
          </a:p>
          <a:p>
            <a:pPr algn="just"/>
            <a:r>
              <a:rPr lang="en-US" sz="1400" dirty="0">
                <a:latin typeface="Arial" panose="020B0604020202020204" pitchFamily="34" charset="0"/>
                <a:cs typeface="Arial" panose="020B0604020202020204" pitchFamily="34" charset="0"/>
              </a:rPr>
              <a:t>Compared to debit card , vouchers, or boleto.</a:t>
            </a:r>
          </a:p>
          <a:p>
            <a:pPr algn="just"/>
            <a:endParaRPr lang="en-US" sz="1400" dirty="0">
              <a:latin typeface="Arial" panose="020B0604020202020204" pitchFamily="34" charset="0"/>
              <a:cs typeface="Arial" panose="020B0604020202020204" pitchFamily="34" charset="0"/>
            </a:endParaRPr>
          </a:p>
          <a:p>
            <a:pPr algn="just"/>
            <a:r>
              <a:rPr lang="en-US" sz="1400" b="1" dirty="0">
                <a:latin typeface="Arial" panose="020B0604020202020204" pitchFamily="34" charset="0"/>
                <a:cs typeface="Arial" panose="020B0604020202020204" pitchFamily="34" charset="0"/>
              </a:rPr>
              <a:t>2.Weekday Orders Are Significantly Higher</a:t>
            </a:r>
          </a:p>
          <a:p>
            <a:pPr algn="just"/>
            <a:r>
              <a:rPr lang="en-US" sz="1400" dirty="0">
                <a:latin typeface="Arial" panose="020B0604020202020204" pitchFamily="34" charset="0"/>
                <a:cs typeface="Arial" panose="020B0604020202020204" pitchFamily="34" charset="0"/>
              </a:rPr>
              <a:t>The majority of purchases occur during weekdays, suggesting customers shop more during regular working days rather than weekends.</a:t>
            </a:r>
          </a:p>
          <a:p>
            <a:pPr algn="just"/>
            <a:endParaRPr lang="en-US" sz="1400" dirty="0">
              <a:latin typeface="Arial" panose="020B0604020202020204" pitchFamily="34" charset="0"/>
              <a:cs typeface="Arial" panose="020B0604020202020204" pitchFamily="34" charset="0"/>
            </a:endParaRPr>
          </a:p>
          <a:p>
            <a:pPr algn="just"/>
            <a:r>
              <a:rPr lang="en-US" sz="1400" b="1" dirty="0">
                <a:latin typeface="Arial" panose="020B0604020202020204" pitchFamily="34" charset="0"/>
                <a:cs typeface="Arial" panose="020B0604020202020204" pitchFamily="34" charset="0"/>
              </a:rPr>
              <a:t>3.Faster Delivery Leads to Higher Customer                              Satisfaction</a:t>
            </a:r>
          </a:p>
          <a:p>
            <a:pPr algn="just"/>
            <a:r>
              <a:rPr lang="en-US" sz="1400" dirty="0">
                <a:latin typeface="Arial" panose="020B0604020202020204" pitchFamily="34" charset="0"/>
                <a:cs typeface="Arial" panose="020B0604020202020204" pitchFamily="34" charset="0"/>
              </a:rPr>
              <a:t>Orders delivered faster receive higher review scores, showing that delivery speed is a key factor influencing customer satisfaction.</a:t>
            </a:r>
          </a:p>
          <a:p>
            <a:pPr algn="just"/>
            <a:endParaRPr lang="en-US" sz="1400" dirty="0">
              <a:latin typeface="Arial" panose="020B0604020202020204" pitchFamily="34" charset="0"/>
              <a:cs typeface="Arial" panose="020B0604020202020204" pitchFamily="34" charset="0"/>
            </a:endParaRPr>
          </a:p>
          <a:p>
            <a:pPr algn="just"/>
            <a:r>
              <a:rPr lang="en-US" sz="1400" b="1" dirty="0">
                <a:latin typeface="Arial" panose="020B0604020202020204" pitchFamily="34" charset="0"/>
                <a:cs typeface="Arial" panose="020B0604020202020204" pitchFamily="34" charset="0"/>
              </a:rPr>
              <a:t>4, São Paulo Customers Show Higher Spending Behavior</a:t>
            </a:r>
          </a:p>
          <a:p>
            <a:pPr algn="just"/>
            <a:r>
              <a:rPr lang="en-US" sz="1400" dirty="0">
                <a:latin typeface="Arial" panose="020B0604020202020204" pitchFamily="34" charset="0"/>
                <a:cs typeface="Arial" panose="020B0604020202020204" pitchFamily="34" charset="0"/>
              </a:rPr>
              <a:t>Customers from São Paulo have higher average payment values, indicating strong purchasing power and making this region a critical market for revenue generation.</a:t>
            </a:r>
            <a:endParaRPr lang="en-IN" sz="16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9DD3FE9A-AE8B-73C4-800F-1A85243CA502}"/>
              </a:ext>
            </a:extLst>
          </p:cNvPr>
          <p:cNvSpPr txBox="1"/>
          <p:nvPr/>
        </p:nvSpPr>
        <p:spPr>
          <a:xfrm>
            <a:off x="6629400" y="2222936"/>
            <a:ext cx="4793298" cy="4185761"/>
          </a:xfrm>
          <a:prstGeom prst="rect">
            <a:avLst/>
          </a:prstGeom>
          <a:noFill/>
        </p:spPr>
        <p:txBody>
          <a:bodyPr wrap="square" rtlCol="0">
            <a:spAutoFit/>
          </a:bodyPr>
          <a:lstStyle/>
          <a:p>
            <a:pPr algn="just"/>
            <a:r>
              <a:rPr lang="en-US" sz="1400" b="1" dirty="0">
                <a:latin typeface="Arial" panose="020B0604020202020204" pitchFamily="34" charset="0"/>
                <a:cs typeface="Arial" panose="020B0604020202020204" pitchFamily="34" charset="0"/>
              </a:rPr>
              <a:t>1. Optimize Weekend Promotions</a:t>
            </a:r>
          </a:p>
          <a:p>
            <a:pPr algn="just"/>
            <a:r>
              <a:rPr lang="en-US" sz="1400" dirty="0">
                <a:latin typeface="Arial" panose="020B0604020202020204" pitchFamily="34" charset="0"/>
                <a:cs typeface="Arial" panose="020B0604020202020204" pitchFamily="34" charset="0"/>
              </a:rPr>
              <a:t>Launch targeted promotions or flash sales during weekends to balance sales distribution and increase order volume on low-traffic days.</a:t>
            </a:r>
          </a:p>
          <a:p>
            <a:pPr algn="just"/>
            <a:endParaRPr lang="en-US" sz="1400" b="1" dirty="0">
              <a:latin typeface="Arial" panose="020B0604020202020204" pitchFamily="34" charset="0"/>
              <a:cs typeface="Arial" panose="020B0604020202020204" pitchFamily="34" charset="0"/>
            </a:endParaRPr>
          </a:p>
          <a:p>
            <a:pPr algn="just"/>
            <a:r>
              <a:rPr lang="en-US" sz="1400" b="1" dirty="0">
                <a:latin typeface="Arial" panose="020B0604020202020204" pitchFamily="34" charset="0"/>
                <a:cs typeface="Arial" panose="020B0604020202020204" pitchFamily="34" charset="0"/>
              </a:rPr>
              <a:t>2. Improve Delivery Logistics</a:t>
            </a:r>
          </a:p>
          <a:p>
            <a:pPr algn="just"/>
            <a:r>
              <a:rPr lang="en-US" sz="1400" dirty="0">
                <a:latin typeface="Arial" panose="020B0604020202020204" pitchFamily="34" charset="0"/>
                <a:cs typeface="Arial" panose="020B0604020202020204" pitchFamily="34" charset="0"/>
              </a:rPr>
              <a:t>Focus on reducing shipping times by optimizing logistics partnerships, warehouse placement, and last-mile delivery operations to improve customer satisfaction.</a:t>
            </a:r>
          </a:p>
          <a:p>
            <a:pPr algn="just"/>
            <a:endParaRPr lang="en-US" sz="1400" b="1" dirty="0">
              <a:latin typeface="Arial" panose="020B0604020202020204" pitchFamily="34" charset="0"/>
              <a:cs typeface="Arial" panose="020B0604020202020204" pitchFamily="34" charset="0"/>
            </a:endParaRPr>
          </a:p>
          <a:p>
            <a:pPr algn="just"/>
            <a:r>
              <a:rPr lang="en-US" sz="1400" b="1" dirty="0">
                <a:latin typeface="Arial" panose="020B0604020202020204" pitchFamily="34" charset="0"/>
                <a:cs typeface="Arial" panose="020B0604020202020204" pitchFamily="34" charset="0"/>
              </a:rPr>
              <a:t>3. Expand High-Demand Product Categories</a:t>
            </a:r>
          </a:p>
          <a:p>
            <a:pPr algn="just"/>
            <a:r>
              <a:rPr lang="en-US" sz="1400" dirty="0">
                <a:latin typeface="Arial" panose="020B0604020202020204" pitchFamily="34" charset="0"/>
                <a:cs typeface="Arial" panose="020B0604020202020204" pitchFamily="34" charset="0"/>
              </a:rPr>
              <a:t>Increase inventory and marketing efforts for high-performing categories such as electronics, audio products, and pet supplies to maximize revenue opportunities.</a:t>
            </a:r>
          </a:p>
          <a:p>
            <a:pPr algn="just"/>
            <a:endParaRPr lang="en-US" sz="1400" b="1" dirty="0">
              <a:latin typeface="Arial" panose="020B0604020202020204" pitchFamily="34" charset="0"/>
              <a:cs typeface="Arial" panose="020B0604020202020204" pitchFamily="34" charset="0"/>
            </a:endParaRPr>
          </a:p>
          <a:p>
            <a:pPr algn="just"/>
            <a:r>
              <a:rPr lang="en-US" sz="1400" b="1" dirty="0">
                <a:latin typeface="Arial" panose="020B0604020202020204" pitchFamily="34" charset="0"/>
                <a:cs typeface="Arial" panose="020B0604020202020204" pitchFamily="34" charset="0"/>
              </a:rPr>
              <a:t>4. Target High-Value Markets</a:t>
            </a:r>
          </a:p>
          <a:p>
            <a:pPr algn="just"/>
            <a:r>
              <a:rPr lang="en-US" sz="1400" dirty="0">
                <a:latin typeface="Arial" panose="020B0604020202020204" pitchFamily="34" charset="0"/>
                <a:cs typeface="Arial" panose="020B0604020202020204" pitchFamily="34" charset="0"/>
              </a:rPr>
              <a:t>Strengthen marketing campaigns in São Paulo and other high-spending cities through personalized promotions and loyalty programs to retain valuable customers.</a:t>
            </a:r>
            <a:endParaRPr lang="en-IN" sz="1600" dirty="0">
              <a:latin typeface="Arial" panose="020B0604020202020204" pitchFamily="34" charset="0"/>
              <a:cs typeface="Arial" panose="020B0604020202020204" pitchFamily="34" charset="0"/>
            </a:endParaRPr>
          </a:p>
        </p:txBody>
      </p:sp>
      <p:sp>
        <p:nvSpPr>
          <p:cNvPr id="19" name="object 22">
            <a:extLst>
              <a:ext uri="{FF2B5EF4-FFF2-40B4-BE49-F238E27FC236}">
                <a16:creationId xmlns:a16="http://schemas.microsoft.com/office/drawing/2014/main" id="{BBAD9856-0B00-9FD2-15C8-C2B495DE7EF0}"/>
              </a:ext>
            </a:extLst>
          </p:cNvPr>
          <p:cNvSpPr txBox="1">
            <a:spLocks noGrp="1"/>
          </p:cNvSpPr>
          <p:nvPr>
            <p:ph type="dt" sz="half" idx="6"/>
          </p:nvPr>
        </p:nvSpPr>
        <p:spPr>
          <a:xfrm>
            <a:off x="10106868" y="6501376"/>
            <a:ext cx="1793240" cy="184666"/>
          </a:xfrm>
          <a:prstGeom prst="rect">
            <a:avLst/>
          </a:prstGeom>
        </p:spPr>
        <p:txBody>
          <a:bodyPr vert="horz" wrap="square" lIns="0" tIns="22860" rIns="0" bIns="0" rtlCol="0">
            <a:spAutoFit/>
          </a:bodyPr>
          <a:lstStyle/>
          <a:p>
            <a:r>
              <a:rPr lang="en-IN" dirty="0">
                <a:effectLst/>
              </a:rPr>
              <a:t>Olist Store Analysis</a:t>
            </a:r>
          </a:p>
        </p:txBody>
      </p:sp>
    </p:spTree>
    <p:extLst>
      <p:ext uri="{BB962C8B-B14F-4D97-AF65-F5344CB8AC3E}">
        <p14:creationId xmlns:p14="http://schemas.microsoft.com/office/powerpoint/2010/main" val="34069322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099" y="358775"/>
            <a:ext cx="6742430" cy="830997"/>
          </a:xfrm>
        </p:spPr>
        <p:txBody>
          <a:bodyPr/>
          <a:lstStyle/>
          <a:p>
            <a:r>
              <a:rPr dirty="0"/>
              <a:t>Challenges Faced &amp; How We Overcame Them</a:t>
            </a:r>
          </a:p>
        </p:txBody>
      </p:sp>
      <p:sp>
        <p:nvSpPr>
          <p:cNvPr id="4" name="object 22">
            <a:extLst>
              <a:ext uri="{FF2B5EF4-FFF2-40B4-BE49-F238E27FC236}">
                <a16:creationId xmlns:a16="http://schemas.microsoft.com/office/drawing/2014/main" id="{8B774E59-4D4F-7F2C-5137-33F55BAE66D6}"/>
              </a:ext>
            </a:extLst>
          </p:cNvPr>
          <p:cNvSpPr txBox="1">
            <a:spLocks noGrp="1"/>
          </p:cNvSpPr>
          <p:nvPr>
            <p:ph type="dt" sz="half" idx="6"/>
          </p:nvPr>
        </p:nvSpPr>
        <p:spPr>
          <a:xfrm>
            <a:off x="10106868" y="6501376"/>
            <a:ext cx="1793240" cy="184666"/>
          </a:xfrm>
          <a:prstGeom prst="rect">
            <a:avLst/>
          </a:prstGeom>
        </p:spPr>
        <p:txBody>
          <a:bodyPr vert="horz" wrap="square" lIns="0" tIns="22860" rIns="0" bIns="0" rtlCol="0">
            <a:spAutoFit/>
          </a:bodyPr>
          <a:lstStyle/>
          <a:p>
            <a:r>
              <a:rPr lang="en-IN" dirty="0">
                <a:effectLst/>
              </a:rPr>
              <a:t>Olist Store Analysis</a:t>
            </a:r>
          </a:p>
        </p:txBody>
      </p:sp>
      <p:sp>
        <p:nvSpPr>
          <p:cNvPr id="7" name="TextBox 6">
            <a:extLst>
              <a:ext uri="{FF2B5EF4-FFF2-40B4-BE49-F238E27FC236}">
                <a16:creationId xmlns:a16="http://schemas.microsoft.com/office/drawing/2014/main" id="{C548E54F-2909-0D35-71A8-95C1EA406873}"/>
              </a:ext>
            </a:extLst>
          </p:cNvPr>
          <p:cNvSpPr txBox="1"/>
          <p:nvPr/>
        </p:nvSpPr>
        <p:spPr>
          <a:xfrm>
            <a:off x="388302" y="2027676"/>
            <a:ext cx="4793298" cy="4216539"/>
          </a:xfrm>
          <a:prstGeom prst="rect">
            <a:avLst/>
          </a:prstGeom>
          <a:noFill/>
        </p:spPr>
        <p:txBody>
          <a:bodyPr wrap="square" rtlCol="0">
            <a:spAutoFit/>
          </a:bodyPr>
          <a:lstStyle/>
          <a:p>
            <a:pPr marL="342900" indent="-342900" algn="just">
              <a:buAutoNum type="arabicPeriod"/>
            </a:pPr>
            <a:r>
              <a:rPr lang="en-US" sz="1400" b="1" dirty="0">
                <a:latin typeface="Arial" panose="020B0604020202020204" pitchFamily="34" charset="0"/>
                <a:cs typeface="Arial" panose="020B0604020202020204" pitchFamily="34" charset="0"/>
              </a:rPr>
              <a:t>Data Quality and Missing Values</a:t>
            </a:r>
          </a:p>
          <a:p>
            <a:pPr algn="just"/>
            <a:r>
              <a:rPr lang="en-US" sz="1400" dirty="0">
                <a:latin typeface="Arial" panose="020B0604020202020204" pitchFamily="34" charset="0"/>
                <a:cs typeface="Arial" panose="020B0604020202020204" pitchFamily="34" charset="0"/>
              </a:rPr>
              <a:t>Some fields such as delivery dates and product categories contained missing or inconsistent data.</a:t>
            </a:r>
          </a:p>
          <a:p>
            <a:pPr algn="just"/>
            <a:endParaRPr lang="en-US" sz="1400" dirty="0">
              <a:latin typeface="Arial" panose="020B0604020202020204" pitchFamily="34" charset="0"/>
              <a:cs typeface="Arial" panose="020B0604020202020204" pitchFamily="34" charset="0"/>
            </a:endParaRPr>
          </a:p>
          <a:p>
            <a:pPr algn="just"/>
            <a:r>
              <a:rPr lang="en-US" sz="1400" b="1" dirty="0">
                <a:latin typeface="Arial" panose="020B0604020202020204" pitchFamily="34" charset="0"/>
                <a:cs typeface="Arial" panose="020B0604020202020204" pitchFamily="34" charset="0"/>
              </a:rPr>
              <a:t>2.Complex Data Relationships Across Multiple Tables</a:t>
            </a:r>
          </a:p>
          <a:p>
            <a:pPr algn="just"/>
            <a:r>
              <a:rPr lang="en-US" sz="1400" dirty="0">
                <a:latin typeface="Arial" panose="020B0604020202020204" pitchFamily="34" charset="0"/>
                <a:cs typeface="Arial" panose="020B0604020202020204" pitchFamily="34" charset="0"/>
              </a:rPr>
              <a:t>The dataset was spread across multiple tables such as orders, customers, payments, products, and reviews.</a:t>
            </a:r>
          </a:p>
          <a:p>
            <a:pPr algn="just"/>
            <a:endParaRPr lang="en-US" sz="1400" dirty="0">
              <a:latin typeface="Arial" panose="020B0604020202020204" pitchFamily="34" charset="0"/>
              <a:cs typeface="Arial" panose="020B0604020202020204" pitchFamily="34" charset="0"/>
            </a:endParaRPr>
          </a:p>
          <a:p>
            <a:pPr algn="just"/>
            <a:r>
              <a:rPr lang="en-US" sz="1400" b="1" dirty="0">
                <a:latin typeface="Arial" panose="020B0604020202020204" pitchFamily="34" charset="0"/>
                <a:cs typeface="Arial" panose="020B0604020202020204" pitchFamily="34" charset="0"/>
              </a:rPr>
              <a:t>3. Delivery Time Calculation Issues</a:t>
            </a:r>
          </a:p>
          <a:p>
            <a:pPr algn="just"/>
            <a:r>
              <a:rPr lang="en-US" sz="1400" dirty="0">
                <a:latin typeface="Arial" panose="020B0604020202020204" pitchFamily="34" charset="0"/>
                <a:cs typeface="Arial" panose="020B0604020202020204" pitchFamily="34" charset="0"/>
              </a:rPr>
              <a:t>Date fields initially returned incorrect formats when calculating shipping days.</a:t>
            </a:r>
          </a:p>
          <a:p>
            <a:pPr algn="just"/>
            <a:endParaRPr lang="en-US" sz="1400" dirty="0">
              <a:latin typeface="Arial" panose="020B0604020202020204" pitchFamily="34" charset="0"/>
              <a:cs typeface="Arial" panose="020B0604020202020204" pitchFamily="34" charset="0"/>
            </a:endParaRPr>
          </a:p>
          <a:p>
            <a:pPr algn="just"/>
            <a:r>
              <a:rPr lang="en-US" sz="1400" b="1" dirty="0">
                <a:latin typeface="Arial" panose="020B0604020202020204" pitchFamily="34" charset="0"/>
                <a:cs typeface="Arial" panose="020B0604020202020204" pitchFamily="34" charset="0"/>
              </a:rPr>
              <a:t>4. Dashboard Visualization and Layout Design</a:t>
            </a:r>
          </a:p>
          <a:p>
            <a:pPr algn="just"/>
            <a:r>
              <a:rPr lang="en-US" sz="1400" dirty="0">
                <a:latin typeface="Arial" panose="020B0604020202020204" pitchFamily="34" charset="0"/>
                <a:cs typeface="Arial" panose="020B0604020202020204" pitchFamily="34" charset="0"/>
              </a:rPr>
              <a:t>Choosing the right charts and maintaining a clean layout was challenging.</a:t>
            </a:r>
          </a:p>
          <a:p>
            <a:pPr algn="just"/>
            <a:endParaRPr lang="en-IN" sz="1600" dirty="0">
              <a:latin typeface="Arial" panose="020B0604020202020204" pitchFamily="34" charset="0"/>
              <a:cs typeface="Arial" panose="020B0604020202020204" pitchFamily="34" charset="0"/>
            </a:endParaRPr>
          </a:p>
          <a:p>
            <a:pPr algn="just"/>
            <a:r>
              <a:rPr lang="en-US" sz="1400" b="1" dirty="0">
                <a:latin typeface="Arial" panose="020B0604020202020204" pitchFamily="34" charset="0"/>
                <a:cs typeface="Arial" panose="020B0604020202020204" pitchFamily="34" charset="0"/>
              </a:rPr>
              <a:t>5. Cross-Tool KPI Consistency</a:t>
            </a:r>
          </a:p>
          <a:p>
            <a:pPr algn="just"/>
            <a:r>
              <a:rPr lang="en-US" sz="1400" dirty="0">
                <a:latin typeface="Arial" panose="020B0604020202020204" pitchFamily="34" charset="0"/>
                <a:cs typeface="Arial" panose="020B0604020202020204" pitchFamily="34" charset="0"/>
              </a:rPr>
              <a:t>Ensuring the same results across SQL queries, Excel analysis, and BI dashboards required validation.</a:t>
            </a:r>
          </a:p>
        </p:txBody>
      </p:sp>
      <p:grpSp>
        <p:nvGrpSpPr>
          <p:cNvPr id="12" name="object 13">
            <a:extLst>
              <a:ext uri="{FF2B5EF4-FFF2-40B4-BE49-F238E27FC236}">
                <a16:creationId xmlns:a16="http://schemas.microsoft.com/office/drawing/2014/main" id="{3756799B-BECE-85B0-3D9A-C4E2429AE7E3}"/>
              </a:ext>
            </a:extLst>
          </p:cNvPr>
          <p:cNvGrpSpPr/>
          <p:nvPr/>
        </p:nvGrpSpPr>
        <p:grpSpPr>
          <a:xfrm>
            <a:off x="364221" y="1218406"/>
            <a:ext cx="4829493" cy="729173"/>
            <a:chOff x="7058024" y="4286251"/>
            <a:chExt cx="4829493" cy="1257499"/>
          </a:xfrm>
        </p:grpSpPr>
        <p:sp>
          <p:nvSpPr>
            <p:cNvPr id="13" name="object 14">
              <a:extLst>
                <a:ext uri="{FF2B5EF4-FFF2-40B4-BE49-F238E27FC236}">
                  <a16:creationId xmlns:a16="http://schemas.microsoft.com/office/drawing/2014/main" id="{B7E8B6D9-D5F3-840E-0FDB-38B96DD46C28}"/>
                </a:ext>
              </a:extLst>
            </p:cNvPr>
            <p:cNvSpPr/>
            <p:nvPr/>
          </p:nvSpPr>
          <p:spPr>
            <a:xfrm>
              <a:off x="7081837" y="4286251"/>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dirty="0"/>
            </a:p>
          </p:txBody>
        </p:sp>
        <p:sp>
          <p:nvSpPr>
            <p:cNvPr id="14" name="object 15">
              <a:extLst>
                <a:ext uri="{FF2B5EF4-FFF2-40B4-BE49-F238E27FC236}">
                  <a16:creationId xmlns:a16="http://schemas.microsoft.com/office/drawing/2014/main" id="{C2942141-B70F-E917-8251-0BE74D6D9528}"/>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sp>
        <p:nvSpPr>
          <p:cNvPr id="15" name="TextBox 14">
            <a:extLst>
              <a:ext uri="{FF2B5EF4-FFF2-40B4-BE49-F238E27FC236}">
                <a16:creationId xmlns:a16="http://schemas.microsoft.com/office/drawing/2014/main" id="{11A8A8A8-D40D-E7C9-ECB2-39AA98582B19}"/>
              </a:ext>
            </a:extLst>
          </p:cNvPr>
          <p:cNvSpPr txBox="1"/>
          <p:nvPr/>
        </p:nvSpPr>
        <p:spPr>
          <a:xfrm>
            <a:off x="411414" y="1410134"/>
            <a:ext cx="2438400" cy="369332"/>
          </a:xfrm>
          <a:prstGeom prst="rect">
            <a:avLst/>
          </a:prstGeom>
          <a:noFill/>
        </p:spPr>
        <p:txBody>
          <a:bodyPr wrap="square" rtlCol="0">
            <a:spAutoFit/>
          </a:bodyPr>
          <a:lstStyle/>
          <a:p>
            <a:r>
              <a:rPr lang="en-IN" b="1" dirty="0">
                <a:solidFill>
                  <a:srgbClr val="1E3A8A"/>
                </a:solidFill>
                <a:latin typeface="Montserrat" panose="00000500000000000000" pitchFamily="2" charset="0"/>
              </a:rPr>
              <a:t>Challenges</a:t>
            </a:r>
            <a:endParaRPr lang="en-IN" dirty="0"/>
          </a:p>
        </p:txBody>
      </p:sp>
      <p:sp>
        <p:nvSpPr>
          <p:cNvPr id="16" name="TextBox 15">
            <a:extLst>
              <a:ext uri="{FF2B5EF4-FFF2-40B4-BE49-F238E27FC236}">
                <a16:creationId xmlns:a16="http://schemas.microsoft.com/office/drawing/2014/main" id="{EAFC4C22-DFFF-09B5-8235-6BFEA13C9251}"/>
              </a:ext>
            </a:extLst>
          </p:cNvPr>
          <p:cNvSpPr txBox="1"/>
          <p:nvPr/>
        </p:nvSpPr>
        <p:spPr>
          <a:xfrm>
            <a:off x="6014988" y="2031067"/>
            <a:ext cx="4793298" cy="4185761"/>
          </a:xfrm>
          <a:prstGeom prst="rect">
            <a:avLst/>
          </a:prstGeom>
          <a:noFill/>
        </p:spPr>
        <p:txBody>
          <a:bodyPr wrap="square" rtlCol="0">
            <a:spAutoFit/>
          </a:bodyPr>
          <a:lstStyle/>
          <a:p>
            <a:pPr marL="342900" indent="-342900" algn="just">
              <a:buAutoNum type="arabicPeriod"/>
            </a:pPr>
            <a:r>
              <a:rPr lang="en-US" sz="1400" dirty="0">
                <a:latin typeface="Arial" panose="020B0604020202020204" pitchFamily="34" charset="0"/>
                <a:cs typeface="Arial" panose="020B0604020202020204" pitchFamily="34" charset="0"/>
              </a:rPr>
              <a:t>Cleaned and standardized the dataset using Excel data cleaning techniques and SQL filtering.</a:t>
            </a:r>
          </a:p>
          <a:p>
            <a:pPr marL="342900" indent="-342900" algn="just">
              <a:buAutoNum type="arabicPeriod"/>
            </a:pPr>
            <a:endParaRPr lang="en-US" sz="1400" dirty="0">
              <a:latin typeface="Arial" panose="020B0604020202020204" pitchFamily="34" charset="0"/>
              <a:cs typeface="Arial" panose="020B0604020202020204" pitchFamily="34" charset="0"/>
            </a:endParaRPr>
          </a:p>
          <a:p>
            <a:pPr marL="342900" indent="-342900" algn="just">
              <a:buAutoNum type="arabicPeriod"/>
            </a:pPr>
            <a:r>
              <a:rPr lang="en-US" sz="1400" dirty="0">
                <a:latin typeface="Arial" panose="020B0604020202020204" pitchFamily="34" charset="0"/>
                <a:cs typeface="Arial" panose="020B0604020202020204" pitchFamily="34" charset="0"/>
              </a:rPr>
              <a:t>Used SQL joins and relationships in Power BI/Tableau to correctly connect the datasets.</a:t>
            </a:r>
          </a:p>
          <a:p>
            <a:pPr marL="342900" indent="-342900" algn="just">
              <a:buAutoNum type="arabicPeriod"/>
            </a:pPr>
            <a:endParaRPr lang="en-US" sz="1400" dirty="0">
              <a:latin typeface="Arial" panose="020B0604020202020204" pitchFamily="34" charset="0"/>
              <a:cs typeface="Arial" panose="020B0604020202020204" pitchFamily="34" charset="0"/>
            </a:endParaRPr>
          </a:p>
          <a:p>
            <a:pPr marL="342900" indent="-342900" algn="just">
              <a:buAutoNum type="arabicPeriod"/>
            </a:pPr>
            <a:r>
              <a:rPr lang="en-US" sz="1400" dirty="0">
                <a:latin typeface="Arial" panose="020B0604020202020204" pitchFamily="34" charset="0"/>
                <a:cs typeface="Arial" panose="020B0604020202020204" pitchFamily="34" charset="0"/>
              </a:rPr>
              <a:t>Converted date fields and used calculated columns (DATEDIFF / Excel formulas) to accurately compute delivery time.</a:t>
            </a:r>
          </a:p>
          <a:p>
            <a:pPr marL="342900" indent="-342900" algn="just">
              <a:buAutoNum type="arabicPeriod"/>
            </a:pPr>
            <a:endParaRPr lang="en-US" sz="1400" dirty="0">
              <a:latin typeface="Arial" panose="020B0604020202020204" pitchFamily="34" charset="0"/>
              <a:cs typeface="Arial" panose="020B0604020202020204" pitchFamily="34" charset="0"/>
            </a:endParaRPr>
          </a:p>
          <a:p>
            <a:pPr marL="342900" indent="-342900" algn="just">
              <a:buAutoNum type="arabicPeriod"/>
            </a:pPr>
            <a:r>
              <a:rPr lang="en-US" sz="1400" dirty="0">
                <a:latin typeface="Arial" panose="020B0604020202020204" pitchFamily="34" charset="0"/>
                <a:cs typeface="Arial" panose="020B0604020202020204" pitchFamily="34" charset="0"/>
              </a:rPr>
              <a:t>Applied data aggregation, filtering, and optimized queries in SQL to improve performance.</a:t>
            </a:r>
          </a:p>
          <a:p>
            <a:pPr marL="342900" indent="-342900" algn="just">
              <a:buAutoNum type="arabicPeriod"/>
            </a:pPr>
            <a:endParaRPr lang="en-US" sz="1400" dirty="0">
              <a:latin typeface="Arial" panose="020B0604020202020204" pitchFamily="34" charset="0"/>
              <a:cs typeface="Arial" panose="020B0604020202020204" pitchFamily="34" charset="0"/>
            </a:endParaRPr>
          </a:p>
          <a:p>
            <a:pPr marL="342900" indent="-342900" algn="just">
              <a:buAutoNum type="arabicPeriod"/>
            </a:pPr>
            <a:r>
              <a:rPr lang="en-US" sz="1400" dirty="0">
                <a:latin typeface="Arial" panose="020B0604020202020204" pitchFamily="34" charset="0"/>
                <a:cs typeface="Arial" panose="020B0604020202020204" pitchFamily="34" charset="0"/>
              </a:rPr>
              <a:t>Standardized calculations and validated KPIs across all tools to maintain accuracy.</a:t>
            </a:r>
          </a:p>
          <a:p>
            <a:pPr marL="342900" indent="-342900" algn="just">
              <a:buAutoNum type="arabicPeriod"/>
            </a:pPr>
            <a:endParaRPr lang="en-US" sz="1400" dirty="0">
              <a:latin typeface="Arial" panose="020B0604020202020204" pitchFamily="34" charset="0"/>
              <a:cs typeface="Arial" panose="020B0604020202020204" pitchFamily="34" charset="0"/>
            </a:endParaRPr>
          </a:p>
          <a:p>
            <a:pPr marL="342900" indent="-342900" algn="just">
              <a:buAutoNum type="arabicPeriod"/>
            </a:pPr>
            <a:r>
              <a:rPr lang="en-US" sz="1400" dirty="0">
                <a:latin typeface="Arial" panose="020B0604020202020204" pitchFamily="34" charset="0"/>
                <a:cs typeface="Arial" panose="020B0604020202020204" pitchFamily="34" charset="0"/>
              </a:rPr>
              <a:t>implemented consistent visual design principles in Power BI/Tableau, selecting appropriate charts for KPIs.</a:t>
            </a:r>
          </a:p>
        </p:txBody>
      </p:sp>
      <p:grpSp>
        <p:nvGrpSpPr>
          <p:cNvPr id="17" name="object 13">
            <a:extLst>
              <a:ext uri="{FF2B5EF4-FFF2-40B4-BE49-F238E27FC236}">
                <a16:creationId xmlns:a16="http://schemas.microsoft.com/office/drawing/2014/main" id="{2B2D01FF-A538-08FE-DB40-932F152DC1AB}"/>
              </a:ext>
            </a:extLst>
          </p:cNvPr>
          <p:cNvGrpSpPr/>
          <p:nvPr/>
        </p:nvGrpSpPr>
        <p:grpSpPr>
          <a:xfrm>
            <a:off x="5990907" y="1221797"/>
            <a:ext cx="4829493" cy="729173"/>
            <a:chOff x="7058024" y="4286251"/>
            <a:chExt cx="4829493" cy="1257499"/>
          </a:xfrm>
        </p:grpSpPr>
        <p:sp>
          <p:nvSpPr>
            <p:cNvPr id="18" name="object 14">
              <a:extLst>
                <a:ext uri="{FF2B5EF4-FFF2-40B4-BE49-F238E27FC236}">
                  <a16:creationId xmlns:a16="http://schemas.microsoft.com/office/drawing/2014/main" id="{2F94FF75-9A09-F0D6-5AFA-7E1B8695832F}"/>
                </a:ext>
              </a:extLst>
            </p:cNvPr>
            <p:cNvSpPr/>
            <p:nvPr/>
          </p:nvSpPr>
          <p:spPr>
            <a:xfrm>
              <a:off x="7081837" y="4286251"/>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dirty="0"/>
            </a:p>
          </p:txBody>
        </p:sp>
        <p:sp>
          <p:nvSpPr>
            <p:cNvPr id="19" name="object 15">
              <a:extLst>
                <a:ext uri="{FF2B5EF4-FFF2-40B4-BE49-F238E27FC236}">
                  <a16:creationId xmlns:a16="http://schemas.microsoft.com/office/drawing/2014/main" id="{EC7BB728-2D55-6ACB-AE61-8C815BE534D6}"/>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sp>
        <p:nvSpPr>
          <p:cNvPr id="20" name="TextBox 19">
            <a:extLst>
              <a:ext uri="{FF2B5EF4-FFF2-40B4-BE49-F238E27FC236}">
                <a16:creationId xmlns:a16="http://schemas.microsoft.com/office/drawing/2014/main" id="{88D475C6-8360-5CF2-E4AA-5418B1A7A501}"/>
              </a:ext>
            </a:extLst>
          </p:cNvPr>
          <p:cNvSpPr txBox="1"/>
          <p:nvPr/>
        </p:nvSpPr>
        <p:spPr>
          <a:xfrm>
            <a:off x="6038100" y="1413525"/>
            <a:ext cx="2438400" cy="369332"/>
          </a:xfrm>
          <a:prstGeom prst="rect">
            <a:avLst/>
          </a:prstGeom>
          <a:noFill/>
        </p:spPr>
        <p:txBody>
          <a:bodyPr wrap="square" rtlCol="0">
            <a:spAutoFit/>
          </a:bodyPr>
          <a:lstStyle/>
          <a:p>
            <a:r>
              <a:rPr lang="en-IN" b="1" dirty="0">
                <a:solidFill>
                  <a:srgbClr val="1E3A8A"/>
                </a:solidFill>
                <a:latin typeface="Montserrat" panose="00000500000000000000" pitchFamily="2" charset="0"/>
              </a:rPr>
              <a:t>Solution</a:t>
            </a:r>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166A4-9490-F532-DB0A-F17E60BB0C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4190C6-D82F-C028-5118-134710B2CA90}"/>
              </a:ext>
            </a:extLst>
          </p:cNvPr>
          <p:cNvSpPr>
            <a:spLocks noGrp="1"/>
          </p:cNvSpPr>
          <p:nvPr>
            <p:ph type="title"/>
          </p:nvPr>
        </p:nvSpPr>
        <p:spPr>
          <a:xfrm>
            <a:off x="2724785" y="2666206"/>
            <a:ext cx="6742430" cy="830997"/>
          </a:xfrm>
        </p:spPr>
        <p:txBody>
          <a:bodyPr/>
          <a:lstStyle/>
          <a:p>
            <a:pPr algn="ctr"/>
            <a:r>
              <a:rPr lang="en-IN" sz="5400" dirty="0"/>
              <a:t>Thank You</a:t>
            </a:r>
            <a:endParaRPr sz="5400" dirty="0"/>
          </a:p>
        </p:txBody>
      </p:sp>
    </p:spTree>
    <p:extLst>
      <p:ext uri="{BB962C8B-B14F-4D97-AF65-F5344CB8AC3E}">
        <p14:creationId xmlns:p14="http://schemas.microsoft.com/office/powerpoint/2010/main" val="2367398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574</TotalTime>
  <Words>1588</Words>
  <Application>Microsoft Office PowerPoint</Application>
  <PresentationFormat>Custom</PresentationFormat>
  <Paragraphs>192</Paragraphs>
  <Slides>17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Montserrat</vt:lpstr>
      <vt:lpstr>Segoe UI</vt:lpstr>
      <vt:lpstr>Segoe UI Semibold</vt:lpstr>
      <vt:lpstr>Office Theme</vt:lpstr>
      <vt:lpstr>Olist Store  Analysis</vt:lpstr>
      <vt:lpstr>Agenda</vt:lpstr>
      <vt:lpstr>KPI 1 – Order Distribution by Day Type</vt:lpstr>
      <vt:lpstr>KPI 2 – 5-Star Orders by Payments Type </vt:lpstr>
      <vt:lpstr>KPI 3 – Average Delivery Time for Pet shop Product</vt:lpstr>
      <vt:lpstr>KPI 4 – Average Order Price vs Payment value for Sao Paulo </vt:lpstr>
      <vt:lpstr>KPI 5 – Impact of Delivery Time on Customer Review Scores</vt:lpstr>
      <vt:lpstr>Power BI Dashboard</vt:lpstr>
      <vt:lpstr>SQL Queries Used</vt:lpstr>
      <vt:lpstr>SQL Queries Used</vt:lpstr>
      <vt:lpstr>SQL Queries Used</vt:lpstr>
      <vt:lpstr>Tableau Dashboard</vt:lpstr>
      <vt:lpstr>Excel Dashboard</vt:lpstr>
      <vt:lpstr>Excel Dashboard</vt:lpstr>
      <vt:lpstr>Conclusion &amp; Recommendations</vt:lpstr>
      <vt:lpstr>Challenges Faced &amp; How We Overcame Them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Adventure Works     Cycles</dc:title>
  <dc:creator>Apoorva Gangrade</dc:creator>
  <cp:lastModifiedBy>Kumud Patil</cp:lastModifiedBy>
  <cp:revision>21</cp:revision>
  <dcterms:created xsi:type="dcterms:W3CDTF">2025-08-18T17:44:52Z</dcterms:created>
  <dcterms:modified xsi:type="dcterms:W3CDTF">2026-09-08T12:19:46Z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2025-08-18T00:00:00Z</vt:filetime>
  </property>
  <property fmtid="{D5CDD505-2E9C-101B-9397-08002B2CF9AE}" pid="3" name="Producer">
    <vt:lpwstr>pypdf</vt:lpwstr>
  </property>
  <property fmtid="{D5CDD505-2E9C-101B-9397-08002B2CF9AE}" pid="4" name="LastSaved">
    <vt:filetime>2025-08-18T00:00:00Z</vt:filetime>
  </property>
</Properties>
</file>